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bookmarkIdSeed="3">
  <p:sldMasterIdLst>
    <p:sldMasterId id="2147483648" r:id="rId1"/>
  </p:sldMasterIdLst>
  <p:notesMasterIdLst>
    <p:notesMasterId r:id="rId20"/>
  </p:notesMasterIdLst>
  <p:handoutMasterIdLst>
    <p:handoutMasterId r:id="rId21"/>
  </p:handoutMasterIdLst>
  <p:sldIdLst>
    <p:sldId id="262" r:id="rId2"/>
    <p:sldId id="317" r:id="rId3"/>
    <p:sldId id="319" r:id="rId4"/>
    <p:sldId id="320" r:id="rId5"/>
    <p:sldId id="331" r:id="rId6"/>
    <p:sldId id="332" r:id="rId7"/>
    <p:sldId id="335" r:id="rId8"/>
    <p:sldId id="336" r:id="rId9"/>
    <p:sldId id="337" r:id="rId10"/>
    <p:sldId id="322" r:id="rId11"/>
    <p:sldId id="338" r:id="rId12"/>
    <p:sldId id="329" r:id="rId13"/>
    <p:sldId id="339" r:id="rId14"/>
    <p:sldId id="328" r:id="rId15"/>
    <p:sldId id="323" r:id="rId16"/>
    <p:sldId id="333" r:id="rId17"/>
    <p:sldId id="334" r:id="rId18"/>
    <p:sldId id="326" r:id="rId19"/>
  </p:sldIdLst>
  <p:sldSz cx="12192000" cy="6858000"/>
  <p:notesSz cx="7315200" cy="9601200"/>
  <p:defaultTex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p:defaultTextStyle>
  <p:extLst>
    <p:ext uri="{521415D9-36F7-43E2-AB2F-B90AF26B5E84}">
      <p14:sectionLst xmlns:p14="http://schemas.microsoft.com/office/powerpoint/2010/main">
        <p14:section name="Default Section" id="{94EAF8C5-F830-4D75-B019-CF75F4EDB9EF}">
          <p14:sldIdLst>
            <p14:sldId id="262"/>
            <p14:sldId id="317"/>
            <p14:sldId id="319"/>
            <p14:sldId id="320"/>
            <p14:sldId id="331"/>
            <p14:sldId id="332"/>
            <p14:sldId id="335"/>
            <p14:sldId id="336"/>
            <p14:sldId id="337"/>
            <p14:sldId id="322"/>
            <p14:sldId id="338"/>
            <p14:sldId id="329"/>
            <p14:sldId id="339"/>
            <p14:sldId id="328"/>
            <p14:sldId id="323"/>
            <p14:sldId id="333"/>
            <p14:sldId id="334"/>
            <p14:sldId id="326"/>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FF6600"/>
    <a:srgbClr val="3366FF"/>
    <a:srgbClr val="FF0000"/>
    <a:srgbClr val="FF0066"/>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B65C0C2-DD3D-49A6-A0F9-2CD23070201F}" v="62" dt="2026-05-06T09:15:20.49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6774" autoAdjust="0"/>
  </p:normalViewPr>
  <p:slideViewPr>
    <p:cSldViewPr snapToGrid="0">
      <p:cViewPr>
        <p:scale>
          <a:sx n="80" d="100"/>
          <a:sy n="80" d="100"/>
        </p:scale>
        <p:origin x="782" y="48"/>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snapToGrid="0">
      <p:cViewPr varScale="1">
        <p:scale>
          <a:sx n="50" d="100"/>
          <a:sy n="50" d="100"/>
        </p:scale>
        <p:origin x="2814" y="5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C881F66-B82A-458E-B278-AC23A686547A}"/>
              </a:ext>
            </a:extLst>
          </p:cNvPr>
          <p:cNvSpPr>
            <a:spLocks noGrp="1"/>
          </p:cNvSpPr>
          <p:nvPr>
            <p:ph type="hdr" sz="quarter"/>
          </p:nvPr>
        </p:nvSpPr>
        <p:spPr>
          <a:xfrm>
            <a:off x="0" y="0"/>
            <a:ext cx="3170238" cy="481013"/>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11AC646-EC5B-465A-BE58-E13393C5DE2F}"/>
              </a:ext>
            </a:extLst>
          </p:cNvPr>
          <p:cNvSpPr>
            <a:spLocks noGrp="1"/>
          </p:cNvSpPr>
          <p:nvPr>
            <p:ph type="dt" sz="quarter" idx="1"/>
          </p:nvPr>
        </p:nvSpPr>
        <p:spPr>
          <a:xfrm>
            <a:off x="4143375" y="0"/>
            <a:ext cx="3170238" cy="481013"/>
          </a:xfrm>
          <a:prstGeom prst="rect">
            <a:avLst/>
          </a:prstGeom>
        </p:spPr>
        <p:txBody>
          <a:bodyPr vert="horz" lIns="91440" tIns="45720" rIns="91440" bIns="45720" rtlCol="0"/>
          <a:lstStyle>
            <a:lvl1pPr algn="r">
              <a:defRPr sz="1200"/>
            </a:lvl1pPr>
          </a:lstStyle>
          <a:p>
            <a:fld id="{95723264-85AA-4999-BACC-D921AC181319}" type="datetimeFigureOut">
              <a:rPr lang="en-US" smtClean="0"/>
              <a:t>5/6/2026</a:t>
            </a:fld>
            <a:endParaRPr lang="en-US"/>
          </a:p>
        </p:txBody>
      </p:sp>
      <p:sp>
        <p:nvSpPr>
          <p:cNvPr id="4" name="Footer Placeholder 3">
            <a:extLst>
              <a:ext uri="{FF2B5EF4-FFF2-40B4-BE49-F238E27FC236}">
                <a16:creationId xmlns:a16="http://schemas.microsoft.com/office/drawing/2014/main" id="{27D688D2-CFB1-437F-BE35-1F57DA6711F5}"/>
              </a:ext>
            </a:extLst>
          </p:cNvPr>
          <p:cNvSpPr>
            <a:spLocks noGrp="1"/>
          </p:cNvSpPr>
          <p:nvPr>
            <p:ph type="ftr" sz="quarter" idx="2"/>
          </p:nvPr>
        </p:nvSpPr>
        <p:spPr>
          <a:xfrm>
            <a:off x="0" y="9120188"/>
            <a:ext cx="3170238" cy="481012"/>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E6EBD1A-1034-41EA-9B1E-16DB2A2406C9}"/>
              </a:ext>
            </a:extLst>
          </p:cNvPr>
          <p:cNvSpPr>
            <a:spLocks noGrp="1"/>
          </p:cNvSpPr>
          <p:nvPr>
            <p:ph type="sldNum" sz="quarter" idx="3"/>
          </p:nvPr>
        </p:nvSpPr>
        <p:spPr>
          <a:xfrm>
            <a:off x="4143375" y="9120188"/>
            <a:ext cx="3170238" cy="481012"/>
          </a:xfrm>
          <a:prstGeom prst="rect">
            <a:avLst/>
          </a:prstGeom>
        </p:spPr>
        <p:txBody>
          <a:bodyPr vert="horz" lIns="91440" tIns="45720" rIns="91440" bIns="45720" rtlCol="0" anchor="b"/>
          <a:lstStyle>
            <a:lvl1pPr algn="r">
              <a:defRPr sz="1200"/>
            </a:lvl1pPr>
          </a:lstStyle>
          <a:p>
            <a:fld id="{30494D57-CC60-4377-A7E4-34277E0EDAAD}" type="slidenum">
              <a:rPr lang="en-US" smtClean="0"/>
              <a:t>‹#›</a:t>
            </a:fld>
            <a:endParaRPr lang="en-US"/>
          </a:p>
        </p:txBody>
      </p:sp>
    </p:spTree>
    <p:extLst>
      <p:ext uri="{BB962C8B-B14F-4D97-AF65-F5344CB8AC3E}">
        <p14:creationId xmlns:p14="http://schemas.microsoft.com/office/powerpoint/2010/main" val="143904158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15673245-1AFE-4784-902C-499F40AE3E08}" type="datetimeFigureOut">
              <a:rPr lang="en-US" smtClean="0"/>
              <a:pPr/>
              <a:t>5/6/2026</a:t>
            </a:fld>
            <a:endParaRPr lang="en-US"/>
          </a:p>
        </p:txBody>
      </p:sp>
      <p:sp>
        <p:nvSpPr>
          <p:cNvPr id="4" name="Slide Image Placeholder 3"/>
          <p:cNvSpPr>
            <a:spLocks noGrp="1" noRot="1" noChangeAspect="1"/>
          </p:cNvSpPr>
          <p:nvPr>
            <p:ph type="sldImg" idx="2"/>
          </p:nvPr>
        </p:nvSpPr>
        <p:spPr>
          <a:xfrm>
            <a:off x="457200" y="720725"/>
            <a:ext cx="6400800"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273D163D-5C38-47FC-8F1D-0B7D3688B4F5}" type="slidenum">
              <a:rPr lang="en-US" smtClean="0"/>
              <a:pPr/>
              <a:t>‹#›</a:t>
            </a:fld>
            <a:endParaRPr lang="en-US"/>
          </a:p>
        </p:txBody>
      </p:sp>
    </p:spTree>
    <p:extLst>
      <p:ext uri="{BB962C8B-B14F-4D97-AF65-F5344CB8AC3E}">
        <p14:creationId xmlns:p14="http://schemas.microsoft.com/office/powerpoint/2010/main" val="39884992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dirty="0"/>
          </a:p>
        </p:txBody>
      </p:sp>
      <p:sp>
        <p:nvSpPr>
          <p:cNvPr id="6" name="Date Placeholder 3"/>
          <p:cNvSpPr>
            <a:spLocks noGrp="1"/>
          </p:cNvSpPr>
          <p:nvPr>
            <p:ph type="dt" sz="half" idx="10"/>
          </p:nvPr>
        </p:nvSpPr>
        <p:spPr/>
        <p:txBody>
          <a:bodyPr/>
          <a:lstStyle>
            <a:lvl1pPr>
              <a:defRPr/>
            </a:lvl1pPr>
          </a:lstStyle>
          <a:p>
            <a:pPr>
              <a:defRPr/>
            </a:pPr>
            <a:fld id="{F1C5CDB7-C7B9-4942-8E6F-2491029CEC6C}" type="datetime8">
              <a:rPr lang="en-IN" smtClean="0"/>
              <a:t>06-05-2026 14:01</a:t>
            </a:fld>
            <a:endParaRPr lang="en-IN"/>
          </a:p>
        </p:txBody>
      </p:sp>
      <p:sp>
        <p:nvSpPr>
          <p:cNvPr id="7" name="Footer Placeholder 4"/>
          <p:cNvSpPr>
            <a:spLocks noGrp="1"/>
          </p:cNvSpPr>
          <p:nvPr>
            <p:ph type="ftr" sz="quarter" idx="11"/>
          </p:nvPr>
        </p:nvSpPr>
        <p:spPr/>
        <p:txBody>
          <a:bodyPr/>
          <a:lstStyle>
            <a:lvl1pPr>
              <a:defRPr/>
            </a:lvl1pPr>
          </a:lstStyle>
          <a:p>
            <a:pPr>
              <a:defRPr/>
            </a:pPr>
            <a:endParaRPr lang="en-IN"/>
          </a:p>
        </p:txBody>
      </p:sp>
      <p:sp>
        <p:nvSpPr>
          <p:cNvPr id="8" name="Slide Number Placeholder 5"/>
          <p:cNvSpPr>
            <a:spLocks noGrp="1"/>
          </p:cNvSpPr>
          <p:nvPr>
            <p:ph type="sldNum" sz="quarter" idx="12"/>
          </p:nvPr>
        </p:nvSpPr>
        <p:spPr/>
        <p:txBody>
          <a:bodyPr/>
          <a:lstStyle>
            <a:lvl1pPr>
              <a:defRPr/>
            </a:lvl1pPr>
          </a:lstStyle>
          <a:p>
            <a:pPr>
              <a:defRPr/>
            </a:pPr>
            <a:fld id="{55BB6A6F-9561-4A5B-AE12-98A3A436C8BA}" type="slidenum">
              <a:rPr lang="en-IN"/>
              <a:pPr>
                <a:defRPr/>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1189320"/>
            <a:ext cx="10515600" cy="594519"/>
          </a:xfrm>
        </p:spPr>
        <p:txBody>
          <a:bodyPr/>
          <a:lstStyle>
            <a:lvl1pPr>
              <a:defRPr sz="4000" b="1">
                <a:solidFill>
                  <a:srgbClr val="C00000"/>
                </a:solidFill>
              </a:defRPr>
            </a:lvl1pPr>
          </a:lstStyle>
          <a:p>
            <a:r>
              <a:rPr lang="en-US"/>
              <a:t>Click to edit Master title style</a:t>
            </a:r>
            <a:endParaRPr lang="en-IN" dirty="0"/>
          </a:p>
        </p:txBody>
      </p:sp>
      <p:sp>
        <p:nvSpPr>
          <p:cNvPr id="3" name="Content Placeholder 2"/>
          <p:cNvSpPr>
            <a:spLocks noGrp="1"/>
          </p:cNvSpPr>
          <p:nvPr>
            <p:ph idx="1"/>
          </p:nvPr>
        </p:nvSpPr>
        <p:spPr>
          <a:xfrm>
            <a:off x="838200" y="2047919"/>
            <a:ext cx="10515600" cy="41290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lvl1pPr>
              <a:defRPr/>
            </a:lvl1pPr>
          </a:lstStyle>
          <a:p>
            <a:pPr>
              <a:defRPr/>
            </a:pPr>
            <a:fld id="{9FCC6B52-9971-410F-B970-172C9ABC021C}" type="datetime8">
              <a:rPr lang="en-IN" smtClean="0"/>
              <a:t>06-05-2026 14:01</a:t>
            </a:fld>
            <a:endParaRPr lang="en-IN"/>
          </a:p>
        </p:txBody>
      </p:sp>
      <p:sp>
        <p:nvSpPr>
          <p:cNvPr id="5" name="Footer Placeholder 4"/>
          <p:cNvSpPr>
            <a:spLocks noGrp="1"/>
          </p:cNvSpPr>
          <p:nvPr>
            <p:ph type="ftr" sz="quarter" idx="11"/>
          </p:nvPr>
        </p:nvSpPr>
        <p:spPr/>
        <p:txBody>
          <a:bodyPr/>
          <a:lstStyle>
            <a:lvl1pPr>
              <a:defRPr/>
            </a:lvl1pPr>
          </a:lstStyle>
          <a:p>
            <a:pPr>
              <a:defRPr/>
            </a:pPr>
            <a:endParaRPr lang="en-IN"/>
          </a:p>
        </p:txBody>
      </p:sp>
      <p:sp>
        <p:nvSpPr>
          <p:cNvPr id="6" name="Slide Number Placeholder 5"/>
          <p:cNvSpPr>
            <a:spLocks noGrp="1"/>
          </p:cNvSpPr>
          <p:nvPr>
            <p:ph type="sldNum" sz="quarter" idx="12"/>
          </p:nvPr>
        </p:nvSpPr>
        <p:spPr/>
        <p:txBody>
          <a:bodyPr/>
          <a:lstStyle>
            <a:lvl1pPr>
              <a:defRPr/>
            </a:lvl1pPr>
          </a:lstStyle>
          <a:p>
            <a:pPr>
              <a:defRPr/>
            </a:pPr>
            <a:fld id="{AAFC9A1D-E715-4FF0-BABF-4724B2795EE9}" type="slidenum">
              <a:rPr lang="en-IN"/>
              <a:pPr>
                <a:defRPr/>
              </a:pPr>
              <a:t>‹#›</a:t>
            </a:fld>
            <a:endParaRPr lang="en-IN"/>
          </a:p>
        </p:txBody>
      </p:sp>
      <p:sp>
        <p:nvSpPr>
          <p:cNvPr id="7" name="TextBox 6">
            <a:extLst>
              <a:ext uri="{FF2B5EF4-FFF2-40B4-BE49-F238E27FC236}">
                <a16:creationId xmlns:a16="http://schemas.microsoft.com/office/drawing/2014/main" id="{CAB0878D-1355-48E0-9F0B-049A294FC821}"/>
              </a:ext>
            </a:extLst>
          </p:cNvPr>
          <p:cNvSpPr txBox="1"/>
          <p:nvPr userDrawn="1"/>
        </p:nvSpPr>
        <p:spPr>
          <a:xfrm>
            <a:off x="0" y="0"/>
            <a:ext cx="12192000" cy="892552"/>
          </a:xfrm>
          <a:prstGeom prst="rect">
            <a:avLst/>
          </a:prstGeom>
          <a:solidFill>
            <a:schemeClr val="accent1">
              <a:lumMod val="75000"/>
            </a:schemeClr>
          </a:solidFill>
        </p:spPr>
        <p:txBody>
          <a:bodyPr wrap="square">
            <a:spAutoFit/>
          </a:bodyPr>
          <a:lstStyle/>
          <a:p>
            <a:pPr algn="ctr" fontAlgn="auto">
              <a:spcBef>
                <a:spcPts val="0"/>
              </a:spcBef>
              <a:spcAft>
                <a:spcPts val="0"/>
              </a:spcAft>
              <a:defRPr/>
            </a:pPr>
            <a:r>
              <a:rPr lang="en-IN" sz="1200" dirty="0">
                <a:latin typeface="+mn-lt"/>
              </a:rPr>
              <a:t>                </a:t>
            </a:r>
            <a:r>
              <a:rPr lang="en-IN" sz="1400" b="1" dirty="0">
                <a:solidFill>
                  <a:schemeClr val="accent2"/>
                </a:solidFill>
                <a:latin typeface="+mn-lt"/>
              </a:rPr>
              <a:t>National</a:t>
            </a:r>
            <a:r>
              <a:rPr lang="en-IN" sz="1400" b="1" baseline="0" dirty="0">
                <a:solidFill>
                  <a:schemeClr val="accent2"/>
                </a:solidFill>
                <a:latin typeface="+mn-lt"/>
              </a:rPr>
              <a:t> Education Society® </a:t>
            </a:r>
          </a:p>
          <a:p>
            <a:pPr algn="ctr" fontAlgn="auto">
              <a:spcBef>
                <a:spcPts val="0"/>
              </a:spcBef>
              <a:spcAft>
                <a:spcPts val="0"/>
              </a:spcAft>
              <a:defRPr/>
            </a:pPr>
            <a:r>
              <a:rPr lang="en-IN" sz="2000" b="1" dirty="0">
                <a:solidFill>
                  <a:schemeClr val="bg1"/>
                </a:solidFill>
                <a:latin typeface="+mn-lt"/>
              </a:rPr>
              <a:t>J N </a:t>
            </a:r>
            <a:r>
              <a:rPr lang="en-IN" sz="2000" b="1" dirty="0" err="1">
                <a:solidFill>
                  <a:schemeClr val="bg1"/>
                </a:solidFill>
                <a:latin typeface="+mn-lt"/>
              </a:rPr>
              <a:t>N</a:t>
            </a:r>
            <a:r>
              <a:rPr lang="en-IN" sz="2000" b="1" dirty="0">
                <a:solidFill>
                  <a:schemeClr val="bg1"/>
                </a:solidFill>
                <a:latin typeface="+mn-lt"/>
              </a:rPr>
              <a:t> College of Engineering, Shivamogga</a:t>
            </a:r>
          </a:p>
          <a:p>
            <a:pPr algn="ctr" fontAlgn="auto">
              <a:spcBef>
                <a:spcPts val="0"/>
              </a:spcBef>
              <a:spcAft>
                <a:spcPts val="0"/>
              </a:spcAft>
              <a:defRPr/>
            </a:pPr>
            <a:r>
              <a:rPr lang="en-IN" sz="1600" b="1" dirty="0">
                <a:solidFill>
                  <a:srgbClr val="FFC000"/>
                </a:solidFill>
                <a:latin typeface="+mn-lt"/>
              </a:rPr>
              <a:t>Department of Electronics</a:t>
            </a:r>
            <a:r>
              <a:rPr lang="en-IN" sz="1600" b="1" baseline="0" dirty="0">
                <a:solidFill>
                  <a:srgbClr val="FFC000"/>
                </a:solidFill>
                <a:latin typeface="+mn-lt"/>
              </a:rPr>
              <a:t> &amp; Communication Engineering</a:t>
            </a:r>
            <a:endParaRPr lang="en-IN" sz="1600" b="1" dirty="0">
              <a:solidFill>
                <a:srgbClr val="FFC000"/>
              </a:solidFill>
              <a:latin typeface="+mn-lt"/>
            </a:endParaRPr>
          </a:p>
        </p:txBody>
      </p:sp>
      <p:pic>
        <p:nvPicPr>
          <p:cNvPr id="8" name="Picture 7" descr="E:\MPCIT 2018\NES Logo.jpg">
            <a:extLst>
              <a:ext uri="{FF2B5EF4-FFF2-40B4-BE49-F238E27FC236}">
                <a16:creationId xmlns:a16="http://schemas.microsoft.com/office/drawing/2014/main" id="{5D820988-954E-47F6-B246-5C97DF57E1CF}"/>
              </a:ext>
            </a:extLst>
          </p:cNvPr>
          <p:cNvPicPr/>
          <p:nvPr userDrawn="1"/>
        </p:nvPicPr>
        <p:blipFill>
          <a:blip r:embed="rId2" cstate="print"/>
          <a:srcRect/>
          <a:stretch>
            <a:fillRect/>
          </a:stretch>
        </p:blipFill>
        <p:spPr bwMode="auto">
          <a:xfrm>
            <a:off x="11353799" y="-12147"/>
            <a:ext cx="838201" cy="911988"/>
          </a:xfrm>
          <a:prstGeom prst="rect">
            <a:avLst/>
          </a:prstGeom>
          <a:noFill/>
          <a:ln w="9525">
            <a:noFill/>
            <a:miter lim="800000"/>
            <a:headEnd/>
            <a:tailEnd/>
          </a:ln>
        </p:spPr>
      </p:pic>
      <p:pic>
        <p:nvPicPr>
          <p:cNvPr id="9" name="Picture 8">
            <a:extLst>
              <a:ext uri="{FF2B5EF4-FFF2-40B4-BE49-F238E27FC236}">
                <a16:creationId xmlns:a16="http://schemas.microsoft.com/office/drawing/2014/main" id="{0C3C2FC2-083D-4112-8B7A-81AD56FA9F6C}"/>
              </a:ext>
            </a:extLst>
          </p:cNvPr>
          <p:cNvPicPr/>
          <p:nvPr userDrawn="1"/>
        </p:nvPicPr>
        <p:blipFill>
          <a:blip r:embed="rId3" cstate="print"/>
          <a:srcRect/>
          <a:stretch>
            <a:fillRect/>
          </a:stretch>
        </p:blipFill>
        <p:spPr bwMode="auto">
          <a:xfrm>
            <a:off x="-1" y="1"/>
            <a:ext cx="838201" cy="892552"/>
          </a:xfrm>
          <a:prstGeom prst="rect">
            <a:avLst/>
          </a:prstGeom>
          <a:noFill/>
          <a:ln w="9525">
            <a:noFill/>
            <a:miter lim="800000"/>
            <a:headEnd/>
            <a:tailEnd/>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7B5F626E-F676-42A9-8147-22F947609B1A}" type="datetime8">
              <a:rPr lang="en-IN" smtClean="0"/>
              <a:t>06-05-2026 14:01</a:t>
            </a:fld>
            <a:endParaRPr lang="en-IN"/>
          </a:p>
        </p:txBody>
      </p:sp>
      <p:sp>
        <p:nvSpPr>
          <p:cNvPr id="5" name="Footer Placeholder 4"/>
          <p:cNvSpPr>
            <a:spLocks noGrp="1"/>
          </p:cNvSpPr>
          <p:nvPr>
            <p:ph type="ftr" sz="quarter" idx="11"/>
          </p:nvPr>
        </p:nvSpPr>
        <p:spPr/>
        <p:txBody>
          <a:bodyPr/>
          <a:lstStyle>
            <a:lvl1pPr>
              <a:defRPr/>
            </a:lvl1pPr>
          </a:lstStyle>
          <a:p>
            <a:pPr>
              <a:defRPr/>
            </a:pPr>
            <a:endParaRPr lang="en-IN"/>
          </a:p>
        </p:txBody>
      </p:sp>
      <p:sp>
        <p:nvSpPr>
          <p:cNvPr id="6" name="Slide Number Placeholder 5"/>
          <p:cNvSpPr>
            <a:spLocks noGrp="1"/>
          </p:cNvSpPr>
          <p:nvPr>
            <p:ph type="sldNum" sz="quarter" idx="12"/>
          </p:nvPr>
        </p:nvSpPr>
        <p:spPr/>
        <p:txBody>
          <a:bodyPr/>
          <a:lstStyle>
            <a:lvl1pPr>
              <a:defRPr/>
            </a:lvl1pPr>
          </a:lstStyle>
          <a:p>
            <a:pPr>
              <a:defRPr/>
            </a:pPr>
            <a:fld id="{B61DB536-FAA4-4926-ABCB-5E7CC269B63D}" type="slidenum">
              <a:rPr lang="en-IN"/>
              <a:pPr>
                <a:defRPr/>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3"/>
          <p:cNvSpPr>
            <a:spLocks noGrp="1"/>
          </p:cNvSpPr>
          <p:nvPr>
            <p:ph type="dt" sz="half" idx="10"/>
          </p:nvPr>
        </p:nvSpPr>
        <p:spPr/>
        <p:txBody>
          <a:bodyPr/>
          <a:lstStyle>
            <a:lvl1pPr>
              <a:defRPr/>
            </a:lvl1pPr>
          </a:lstStyle>
          <a:p>
            <a:pPr>
              <a:defRPr/>
            </a:pPr>
            <a:fld id="{82AF67E9-F8F5-4CE0-82D0-A92C16B660F6}" type="datetime8">
              <a:rPr lang="en-IN" smtClean="0"/>
              <a:t>06-05-2026 14:01</a:t>
            </a:fld>
            <a:endParaRPr lang="en-IN"/>
          </a:p>
        </p:txBody>
      </p:sp>
      <p:sp>
        <p:nvSpPr>
          <p:cNvPr id="6" name="Footer Placeholder 4"/>
          <p:cNvSpPr>
            <a:spLocks noGrp="1"/>
          </p:cNvSpPr>
          <p:nvPr>
            <p:ph type="ftr" sz="quarter" idx="11"/>
          </p:nvPr>
        </p:nvSpPr>
        <p:spPr/>
        <p:txBody>
          <a:bodyPr/>
          <a:lstStyle>
            <a:lvl1pPr>
              <a:defRPr/>
            </a:lvl1pPr>
          </a:lstStyle>
          <a:p>
            <a:pPr>
              <a:defRPr/>
            </a:pPr>
            <a:endParaRPr lang="en-IN"/>
          </a:p>
        </p:txBody>
      </p:sp>
      <p:sp>
        <p:nvSpPr>
          <p:cNvPr id="7" name="Slide Number Placeholder 5"/>
          <p:cNvSpPr>
            <a:spLocks noGrp="1"/>
          </p:cNvSpPr>
          <p:nvPr>
            <p:ph type="sldNum" sz="quarter" idx="12"/>
          </p:nvPr>
        </p:nvSpPr>
        <p:spPr/>
        <p:txBody>
          <a:bodyPr/>
          <a:lstStyle>
            <a:lvl1pPr>
              <a:defRPr/>
            </a:lvl1pPr>
          </a:lstStyle>
          <a:p>
            <a:pPr>
              <a:defRPr/>
            </a:pPr>
            <a:fld id="{3EC575D1-AB1E-42DE-BB10-C5BC04895D83}" type="slidenum">
              <a:rPr lang="en-IN"/>
              <a:pPr>
                <a:defRPr/>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3"/>
          <p:cNvSpPr>
            <a:spLocks noGrp="1"/>
          </p:cNvSpPr>
          <p:nvPr>
            <p:ph type="dt" sz="half" idx="10"/>
          </p:nvPr>
        </p:nvSpPr>
        <p:spPr/>
        <p:txBody>
          <a:bodyPr/>
          <a:lstStyle>
            <a:lvl1pPr>
              <a:defRPr/>
            </a:lvl1pPr>
          </a:lstStyle>
          <a:p>
            <a:pPr>
              <a:defRPr/>
            </a:pPr>
            <a:fld id="{3442DCE6-E8AA-4F7B-87D9-5D597DC39642}" type="datetime8">
              <a:rPr lang="en-IN" smtClean="0"/>
              <a:t>06-05-2026 14:01</a:t>
            </a:fld>
            <a:endParaRPr lang="en-IN"/>
          </a:p>
        </p:txBody>
      </p:sp>
      <p:sp>
        <p:nvSpPr>
          <p:cNvPr id="8" name="Footer Placeholder 4"/>
          <p:cNvSpPr>
            <a:spLocks noGrp="1"/>
          </p:cNvSpPr>
          <p:nvPr>
            <p:ph type="ftr" sz="quarter" idx="11"/>
          </p:nvPr>
        </p:nvSpPr>
        <p:spPr/>
        <p:txBody>
          <a:bodyPr/>
          <a:lstStyle>
            <a:lvl1pPr>
              <a:defRPr/>
            </a:lvl1pPr>
          </a:lstStyle>
          <a:p>
            <a:pPr>
              <a:defRPr/>
            </a:pPr>
            <a:endParaRPr lang="en-IN"/>
          </a:p>
        </p:txBody>
      </p:sp>
      <p:sp>
        <p:nvSpPr>
          <p:cNvPr id="9" name="Slide Number Placeholder 5"/>
          <p:cNvSpPr>
            <a:spLocks noGrp="1"/>
          </p:cNvSpPr>
          <p:nvPr>
            <p:ph type="sldNum" sz="quarter" idx="12"/>
          </p:nvPr>
        </p:nvSpPr>
        <p:spPr/>
        <p:txBody>
          <a:bodyPr/>
          <a:lstStyle>
            <a:lvl1pPr>
              <a:defRPr/>
            </a:lvl1pPr>
          </a:lstStyle>
          <a:p>
            <a:pPr>
              <a:defRPr/>
            </a:pPr>
            <a:fld id="{AEE83BE7-C55D-4A4E-A6A0-043F94059D06}" type="slidenum">
              <a:rPr lang="en-IN"/>
              <a:pPr>
                <a:defRPr/>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3"/>
          <p:cNvSpPr>
            <a:spLocks noGrp="1"/>
          </p:cNvSpPr>
          <p:nvPr>
            <p:ph type="dt" sz="half" idx="10"/>
          </p:nvPr>
        </p:nvSpPr>
        <p:spPr/>
        <p:txBody>
          <a:bodyPr/>
          <a:lstStyle>
            <a:lvl1pPr>
              <a:defRPr/>
            </a:lvl1pPr>
          </a:lstStyle>
          <a:p>
            <a:pPr>
              <a:defRPr/>
            </a:pPr>
            <a:fld id="{CAC97517-09AA-4567-A2E1-B1890EF95AEC}" type="datetime8">
              <a:rPr lang="en-IN" smtClean="0"/>
              <a:t>06-05-2026 14:01</a:t>
            </a:fld>
            <a:endParaRPr lang="en-IN"/>
          </a:p>
        </p:txBody>
      </p:sp>
      <p:sp>
        <p:nvSpPr>
          <p:cNvPr id="4" name="Footer Placeholder 4"/>
          <p:cNvSpPr>
            <a:spLocks noGrp="1"/>
          </p:cNvSpPr>
          <p:nvPr>
            <p:ph type="ftr" sz="quarter" idx="11"/>
          </p:nvPr>
        </p:nvSpPr>
        <p:spPr/>
        <p:txBody>
          <a:bodyPr/>
          <a:lstStyle>
            <a:lvl1pPr>
              <a:defRPr/>
            </a:lvl1pPr>
          </a:lstStyle>
          <a:p>
            <a:pPr>
              <a:defRPr/>
            </a:pPr>
            <a:endParaRPr lang="en-IN"/>
          </a:p>
        </p:txBody>
      </p:sp>
      <p:sp>
        <p:nvSpPr>
          <p:cNvPr id="5" name="Slide Number Placeholder 5"/>
          <p:cNvSpPr>
            <a:spLocks noGrp="1"/>
          </p:cNvSpPr>
          <p:nvPr>
            <p:ph type="sldNum" sz="quarter" idx="12"/>
          </p:nvPr>
        </p:nvSpPr>
        <p:spPr/>
        <p:txBody>
          <a:bodyPr/>
          <a:lstStyle>
            <a:lvl1pPr>
              <a:defRPr/>
            </a:lvl1pPr>
          </a:lstStyle>
          <a:p>
            <a:pPr>
              <a:defRPr/>
            </a:pPr>
            <a:fld id="{CC04BEB8-290C-4FA4-AE69-E6C3853FAEAC}" type="slidenum">
              <a:rPr lang="en-IN"/>
              <a:pPr>
                <a:defRPr/>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5D913030-121A-4BC2-8785-768C6574CBA7}" type="datetime8">
              <a:rPr lang="en-IN" smtClean="0"/>
              <a:t>06-05-2026 14:01</a:t>
            </a:fld>
            <a:endParaRPr lang="en-IN"/>
          </a:p>
        </p:txBody>
      </p:sp>
      <p:sp>
        <p:nvSpPr>
          <p:cNvPr id="3" name="Footer Placeholder 4"/>
          <p:cNvSpPr>
            <a:spLocks noGrp="1"/>
          </p:cNvSpPr>
          <p:nvPr>
            <p:ph type="ftr" sz="quarter" idx="11"/>
          </p:nvPr>
        </p:nvSpPr>
        <p:spPr/>
        <p:txBody>
          <a:bodyPr/>
          <a:lstStyle>
            <a:lvl1pPr>
              <a:defRPr/>
            </a:lvl1pPr>
          </a:lstStyle>
          <a:p>
            <a:pPr>
              <a:defRPr/>
            </a:pPr>
            <a:endParaRPr lang="en-IN"/>
          </a:p>
        </p:txBody>
      </p:sp>
      <p:sp>
        <p:nvSpPr>
          <p:cNvPr id="4" name="Slide Number Placeholder 5"/>
          <p:cNvSpPr>
            <a:spLocks noGrp="1"/>
          </p:cNvSpPr>
          <p:nvPr>
            <p:ph type="sldNum" sz="quarter" idx="12"/>
          </p:nvPr>
        </p:nvSpPr>
        <p:spPr/>
        <p:txBody>
          <a:bodyPr/>
          <a:lstStyle>
            <a:lvl1pPr>
              <a:defRPr/>
            </a:lvl1pPr>
          </a:lstStyle>
          <a:p>
            <a:pPr>
              <a:defRPr/>
            </a:pPr>
            <a:fld id="{B9680943-4E2D-423B-9B17-EDA302C7F0FC}" type="slidenum">
              <a:rPr lang="en-IN"/>
              <a:pPr>
                <a:defRPr/>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0AFE9AB1-297E-4899-9201-9967D699F13C}" type="datetime8">
              <a:rPr lang="en-IN" smtClean="0"/>
              <a:t>06-05-2026 14:01</a:t>
            </a:fld>
            <a:endParaRPr lang="en-IN"/>
          </a:p>
        </p:txBody>
      </p:sp>
      <p:sp>
        <p:nvSpPr>
          <p:cNvPr id="6" name="Footer Placeholder 4"/>
          <p:cNvSpPr>
            <a:spLocks noGrp="1"/>
          </p:cNvSpPr>
          <p:nvPr>
            <p:ph type="ftr" sz="quarter" idx="11"/>
          </p:nvPr>
        </p:nvSpPr>
        <p:spPr/>
        <p:txBody>
          <a:bodyPr/>
          <a:lstStyle>
            <a:lvl1pPr>
              <a:defRPr/>
            </a:lvl1pPr>
          </a:lstStyle>
          <a:p>
            <a:pPr>
              <a:defRPr/>
            </a:pPr>
            <a:endParaRPr lang="en-IN"/>
          </a:p>
        </p:txBody>
      </p:sp>
      <p:sp>
        <p:nvSpPr>
          <p:cNvPr id="7" name="Slide Number Placeholder 5"/>
          <p:cNvSpPr>
            <a:spLocks noGrp="1"/>
          </p:cNvSpPr>
          <p:nvPr>
            <p:ph type="sldNum" sz="quarter" idx="12"/>
          </p:nvPr>
        </p:nvSpPr>
        <p:spPr/>
        <p:txBody>
          <a:bodyPr/>
          <a:lstStyle>
            <a:lvl1pPr>
              <a:defRPr/>
            </a:lvl1pPr>
          </a:lstStyle>
          <a:p>
            <a:pPr>
              <a:defRPr/>
            </a:pPr>
            <a:fld id="{413E8B7A-A1F6-43A6-BB9A-27425DB04B23}" type="slidenum">
              <a:rPr lang="en-IN"/>
              <a:pPr>
                <a:defRPr/>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IN" noProof="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7839CD5E-CBE4-4A03-A3BA-DBD58BCA2F1B}" type="datetime8">
              <a:rPr lang="en-IN" smtClean="0"/>
              <a:t>06-05-2026 14:01</a:t>
            </a:fld>
            <a:endParaRPr lang="en-IN"/>
          </a:p>
        </p:txBody>
      </p:sp>
      <p:sp>
        <p:nvSpPr>
          <p:cNvPr id="6" name="Footer Placeholder 4"/>
          <p:cNvSpPr>
            <a:spLocks noGrp="1"/>
          </p:cNvSpPr>
          <p:nvPr>
            <p:ph type="ftr" sz="quarter" idx="11"/>
          </p:nvPr>
        </p:nvSpPr>
        <p:spPr/>
        <p:txBody>
          <a:bodyPr/>
          <a:lstStyle>
            <a:lvl1pPr>
              <a:defRPr/>
            </a:lvl1pPr>
          </a:lstStyle>
          <a:p>
            <a:pPr>
              <a:defRPr/>
            </a:pPr>
            <a:endParaRPr lang="en-IN"/>
          </a:p>
        </p:txBody>
      </p:sp>
      <p:sp>
        <p:nvSpPr>
          <p:cNvPr id="7" name="Slide Number Placeholder 5"/>
          <p:cNvSpPr>
            <a:spLocks noGrp="1"/>
          </p:cNvSpPr>
          <p:nvPr>
            <p:ph type="sldNum" sz="quarter" idx="12"/>
          </p:nvPr>
        </p:nvSpPr>
        <p:spPr/>
        <p:txBody>
          <a:bodyPr/>
          <a:lstStyle>
            <a:lvl1pPr>
              <a:defRPr/>
            </a:lvl1pPr>
          </a:lstStyle>
          <a:p>
            <a:pPr>
              <a:defRPr/>
            </a:pPr>
            <a:fld id="{94BC42C3-3321-4411-BD31-6AA50CB42156}" type="slidenum">
              <a:rPr lang="en-IN"/>
              <a:pPr>
                <a:defRPr/>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lvl1pPr>
              <a:defRPr/>
            </a:lvl1pPr>
          </a:lstStyle>
          <a:p>
            <a:pPr>
              <a:defRPr/>
            </a:pPr>
            <a:fld id="{CF4D5E12-AF6F-4FA3-996B-02FC8DEA8DE4}" type="datetime8">
              <a:rPr lang="en-IN" smtClean="0"/>
              <a:t>06-05-2026 14:01</a:t>
            </a:fld>
            <a:endParaRPr lang="en-IN"/>
          </a:p>
        </p:txBody>
      </p:sp>
      <p:sp>
        <p:nvSpPr>
          <p:cNvPr id="5" name="Footer Placeholder 4"/>
          <p:cNvSpPr>
            <a:spLocks noGrp="1"/>
          </p:cNvSpPr>
          <p:nvPr>
            <p:ph type="ftr" sz="quarter" idx="11"/>
          </p:nvPr>
        </p:nvSpPr>
        <p:spPr/>
        <p:txBody>
          <a:bodyPr/>
          <a:lstStyle>
            <a:lvl1pPr>
              <a:defRPr/>
            </a:lvl1pPr>
          </a:lstStyle>
          <a:p>
            <a:pPr>
              <a:defRPr/>
            </a:pPr>
            <a:endParaRPr lang="en-IN"/>
          </a:p>
        </p:txBody>
      </p:sp>
      <p:sp>
        <p:nvSpPr>
          <p:cNvPr id="6" name="Slide Number Placeholder 5"/>
          <p:cNvSpPr>
            <a:spLocks noGrp="1"/>
          </p:cNvSpPr>
          <p:nvPr>
            <p:ph type="sldNum" sz="quarter" idx="12"/>
          </p:nvPr>
        </p:nvSpPr>
        <p:spPr/>
        <p:txBody>
          <a:bodyPr/>
          <a:lstStyle>
            <a:lvl1pPr>
              <a:defRPr/>
            </a:lvl1pPr>
          </a:lstStyle>
          <a:p>
            <a:pPr>
              <a:defRPr/>
            </a:pPr>
            <a:fld id="{E5A94BFF-E6F2-42DA-8F77-E91E479BC657}" type="slidenum">
              <a:rPr lang="en-IN"/>
              <a:pPr>
                <a:defRPr/>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lvl1pPr>
              <a:defRPr/>
            </a:lvl1pPr>
          </a:lstStyle>
          <a:p>
            <a:pPr>
              <a:defRPr/>
            </a:pPr>
            <a:fld id="{9E6A640B-1DAF-4CAB-8843-3710E008EA2A}" type="datetime8">
              <a:rPr lang="en-IN" smtClean="0"/>
              <a:t>06-05-2026 14:01</a:t>
            </a:fld>
            <a:endParaRPr lang="en-IN"/>
          </a:p>
        </p:txBody>
      </p:sp>
      <p:sp>
        <p:nvSpPr>
          <p:cNvPr id="5" name="Footer Placeholder 4"/>
          <p:cNvSpPr>
            <a:spLocks noGrp="1"/>
          </p:cNvSpPr>
          <p:nvPr>
            <p:ph type="ftr" sz="quarter" idx="11"/>
          </p:nvPr>
        </p:nvSpPr>
        <p:spPr/>
        <p:txBody>
          <a:bodyPr/>
          <a:lstStyle>
            <a:lvl1pPr>
              <a:defRPr/>
            </a:lvl1pPr>
          </a:lstStyle>
          <a:p>
            <a:pPr>
              <a:defRPr/>
            </a:pPr>
            <a:endParaRPr lang="en-IN"/>
          </a:p>
        </p:txBody>
      </p:sp>
      <p:sp>
        <p:nvSpPr>
          <p:cNvPr id="6" name="Slide Number Placeholder 5"/>
          <p:cNvSpPr>
            <a:spLocks noGrp="1"/>
          </p:cNvSpPr>
          <p:nvPr>
            <p:ph type="sldNum" sz="quarter" idx="12"/>
          </p:nvPr>
        </p:nvSpPr>
        <p:spPr/>
        <p:txBody>
          <a:bodyPr/>
          <a:lstStyle>
            <a:lvl1pPr>
              <a:defRPr/>
            </a:lvl1pPr>
          </a:lstStyle>
          <a:p>
            <a:pPr>
              <a:defRPr/>
            </a:pPr>
            <a:fld id="{4555DBBF-0D74-425F-B081-0E4407209FE3}" type="slidenum">
              <a:rPr lang="en-IN"/>
              <a:pPr>
                <a:defRPr/>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endParaRPr lang="en-IN"/>
          </a:p>
        </p:txBody>
      </p:sp>
      <p:sp>
        <p:nvSpPr>
          <p:cNvPr id="1027" name="Text Placeholder 2"/>
          <p:cNvSpPr>
            <a:spLocks noGrp="1"/>
          </p:cNvSpPr>
          <p:nvPr>
            <p:ph type="body" idx="1"/>
          </p:nvPr>
        </p:nvSpPr>
        <p:spPr bwMode="auto">
          <a:xfrm>
            <a:off x="838200" y="1825625"/>
            <a:ext cx="10515600" cy="43513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20090BA4-FD51-4875-86B0-E64579B30455}" type="datetime8">
              <a:rPr lang="en-IN" smtClean="0"/>
              <a:t>06-05-2026 14:01</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defRPr>
            </a:lvl1pPr>
          </a:lstStyle>
          <a:p>
            <a:pPr>
              <a:defRPr/>
            </a:pPr>
            <a:fld id="{C49365E3-5853-4AF6-9D20-BF7E216DA051}" type="slidenum">
              <a:rPr lang="en-IN"/>
              <a:pPr>
                <a:defRPr/>
              </a:pPr>
              <a:t>‹#›</a:t>
            </a:fld>
            <a:endParaRPr lang="en-IN"/>
          </a:p>
        </p:txBody>
      </p:sp>
    </p:spTree>
  </p:cSld>
  <p:clrMap bg1="lt1" tx1="dk1" bg2="lt2" tx2="dk2" accent1="accent1" accent2="accent2" accent3="accent3" accent4="accent4" accent5="accent5" accent6="accent6" hlink="hlink" folHlink="folHlink"/>
  <p:sldLayoutIdLst>
    <p:sldLayoutId id="2147483755" r:id="rId1"/>
    <p:sldLayoutId id="2147483745" r:id="rId2"/>
    <p:sldLayoutId id="2147483746" r:id="rId3"/>
    <p:sldLayoutId id="2147483747" r:id="rId4"/>
    <p:sldLayoutId id="2147483748" r:id="rId5"/>
    <p:sldLayoutId id="2147483749" r:id="rId6"/>
    <p:sldLayoutId id="2147483750" r:id="rId7"/>
    <p:sldLayoutId id="2147483751" r:id="rId8"/>
    <p:sldLayoutId id="2147483752" r:id="rId9"/>
    <p:sldLayoutId id="2147483753" r:id="rId10"/>
    <p:sldLayoutId id="2147483754" r:id="rId11"/>
  </p:sldLayoutIdLst>
  <p:hf hdr="0" ftr="0"/>
  <p:txStyles>
    <p:titleStyle>
      <a:lvl1pPr algn="l" rtl="0" eaLnBrk="1" fontAlgn="base" hangingPunct="1">
        <a:lnSpc>
          <a:spcPct val="90000"/>
        </a:lnSpc>
        <a:spcBef>
          <a:spcPct val="0"/>
        </a:spcBef>
        <a:spcAft>
          <a:spcPct val="0"/>
        </a:spcAft>
        <a:defRPr sz="4400" kern="1200">
          <a:solidFill>
            <a:schemeClr val="tx1"/>
          </a:solidFill>
          <a:latin typeface="+mj-lt"/>
          <a:ea typeface="+mj-ea"/>
          <a:cs typeface="+mj-cs"/>
        </a:defRPr>
      </a:lvl1pPr>
      <a:lvl2pPr algn="l" rtl="0" eaLnBrk="1" fontAlgn="base" hangingPunct="1">
        <a:lnSpc>
          <a:spcPct val="90000"/>
        </a:lnSpc>
        <a:spcBef>
          <a:spcPct val="0"/>
        </a:spcBef>
        <a:spcAft>
          <a:spcPct val="0"/>
        </a:spcAft>
        <a:defRPr sz="4400">
          <a:solidFill>
            <a:schemeClr val="tx1"/>
          </a:solidFill>
          <a:latin typeface="Calibri Light"/>
        </a:defRPr>
      </a:lvl2pPr>
      <a:lvl3pPr algn="l" rtl="0" eaLnBrk="1" fontAlgn="base" hangingPunct="1">
        <a:lnSpc>
          <a:spcPct val="90000"/>
        </a:lnSpc>
        <a:spcBef>
          <a:spcPct val="0"/>
        </a:spcBef>
        <a:spcAft>
          <a:spcPct val="0"/>
        </a:spcAft>
        <a:defRPr sz="4400">
          <a:solidFill>
            <a:schemeClr val="tx1"/>
          </a:solidFill>
          <a:latin typeface="Calibri Light"/>
        </a:defRPr>
      </a:lvl3pPr>
      <a:lvl4pPr algn="l" rtl="0" eaLnBrk="1" fontAlgn="base" hangingPunct="1">
        <a:lnSpc>
          <a:spcPct val="90000"/>
        </a:lnSpc>
        <a:spcBef>
          <a:spcPct val="0"/>
        </a:spcBef>
        <a:spcAft>
          <a:spcPct val="0"/>
        </a:spcAft>
        <a:defRPr sz="4400">
          <a:solidFill>
            <a:schemeClr val="tx1"/>
          </a:solidFill>
          <a:latin typeface="Calibri Light"/>
        </a:defRPr>
      </a:lvl4pPr>
      <a:lvl5pPr algn="l" rtl="0" eaLnBrk="1" fontAlgn="base" hangingPunct="1">
        <a:lnSpc>
          <a:spcPct val="90000"/>
        </a:lnSpc>
        <a:spcBef>
          <a:spcPct val="0"/>
        </a:spcBef>
        <a:spcAft>
          <a:spcPct val="0"/>
        </a:spcAft>
        <a:defRPr sz="4400">
          <a:solidFill>
            <a:schemeClr val="tx1"/>
          </a:solidFill>
          <a:latin typeface="Calibri Light"/>
        </a:defRPr>
      </a:lvl5pPr>
      <a:lvl6pPr marL="457200" algn="l" rtl="0" eaLnBrk="1" fontAlgn="base" hangingPunct="1">
        <a:lnSpc>
          <a:spcPct val="90000"/>
        </a:lnSpc>
        <a:spcBef>
          <a:spcPct val="0"/>
        </a:spcBef>
        <a:spcAft>
          <a:spcPct val="0"/>
        </a:spcAft>
        <a:defRPr sz="4400">
          <a:solidFill>
            <a:schemeClr val="tx1"/>
          </a:solidFill>
          <a:latin typeface="Calibri Light"/>
        </a:defRPr>
      </a:lvl6pPr>
      <a:lvl7pPr marL="914400" algn="l" rtl="0" eaLnBrk="1" fontAlgn="base" hangingPunct="1">
        <a:lnSpc>
          <a:spcPct val="90000"/>
        </a:lnSpc>
        <a:spcBef>
          <a:spcPct val="0"/>
        </a:spcBef>
        <a:spcAft>
          <a:spcPct val="0"/>
        </a:spcAft>
        <a:defRPr sz="4400">
          <a:solidFill>
            <a:schemeClr val="tx1"/>
          </a:solidFill>
          <a:latin typeface="Calibri Light"/>
        </a:defRPr>
      </a:lvl7pPr>
      <a:lvl8pPr marL="1371600" algn="l" rtl="0" eaLnBrk="1" fontAlgn="base" hangingPunct="1">
        <a:lnSpc>
          <a:spcPct val="90000"/>
        </a:lnSpc>
        <a:spcBef>
          <a:spcPct val="0"/>
        </a:spcBef>
        <a:spcAft>
          <a:spcPct val="0"/>
        </a:spcAft>
        <a:defRPr sz="4400">
          <a:solidFill>
            <a:schemeClr val="tx1"/>
          </a:solidFill>
          <a:latin typeface="Calibri Light"/>
        </a:defRPr>
      </a:lvl8pPr>
      <a:lvl9pPr marL="1828800" algn="l" rtl="0" eaLnBrk="1" fontAlgn="base" hangingPunct="1">
        <a:lnSpc>
          <a:spcPct val="90000"/>
        </a:lnSpc>
        <a:spcBef>
          <a:spcPct val="0"/>
        </a:spcBef>
        <a:spcAft>
          <a:spcPct val="0"/>
        </a:spcAft>
        <a:defRPr sz="4400">
          <a:solidFill>
            <a:schemeClr val="tx1"/>
          </a:solidFill>
          <a:latin typeface="Calibri Light"/>
        </a:defRPr>
      </a:lvl9pPr>
    </p:titleStyle>
    <p:bodyStyle>
      <a:lvl1pPr marL="228600" indent="-228600" algn="l" rtl="0" eaLnBrk="1" fontAlgn="base" hangingPunct="1">
        <a:lnSpc>
          <a:spcPct val="90000"/>
        </a:lnSpc>
        <a:spcBef>
          <a:spcPts val="1000"/>
        </a:spcBef>
        <a:spcAft>
          <a:spcPct val="0"/>
        </a:spcAft>
        <a:buFont typeface="Arial" pitchFamily="34" charset="0"/>
        <a:buChar char="•"/>
        <a:defRPr sz="28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pitchFamily="34" charset="0"/>
        <a:buChar char="•"/>
        <a:defRPr sz="24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pitchFamily="34" charset="0"/>
        <a:buChar char="•"/>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2B90775-13DB-4046-A93A-50FDB6E758A2}"/>
              </a:ext>
            </a:extLst>
          </p:cNvPr>
          <p:cNvSpPr>
            <a:spLocks noGrp="1"/>
          </p:cNvSpPr>
          <p:nvPr>
            <p:ph type="ctrTitle"/>
          </p:nvPr>
        </p:nvSpPr>
        <p:spPr>
          <a:xfrm>
            <a:off x="0" y="0"/>
            <a:ext cx="12192000" cy="766916"/>
          </a:xfrm>
        </p:spPr>
        <p:txBody>
          <a:bodyPr/>
          <a:lstStyle/>
          <a:p>
            <a:r>
              <a:rPr lang="en-US" sz="4400" b="1" dirty="0">
                <a:solidFill>
                  <a:srgbClr val="0000CC"/>
                </a:solidFill>
              </a:rPr>
              <a:t>Visvesvaraya Technological University Belagavi</a:t>
            </a:r>
          </a:p>
        </p:txBody>
      </p:sp>
      <p:sp>
        <p:nvSpPr>
          <p:cNvPr id="6" name="Subtitle 5">
            <a:extLst>
              <a:ext uri="{FF2B5EF4-FFF2-40B4-BE49-F238E27FC236}">
                <a16:creationId xmlns:a16="http://schemas.microsoft.com/office/drawing/2014/main" id="{8C87054C-FEDE-4143-ABCC-900AB3701954}"/>
              </a:ext>
            </a:extLst>
          </p:cNvPr>
          <p:cNvSpPr>
            <a:spLocks noGrp="1"/>
          </p:cNvSpPr>
          <p:nvPr>
            <p:ph type="subTitle" idx="1"/>
          </p:nvPr>
        </p:nvSpPr>
        <p:spPr>
          <a:xfrm>
            <a:off x="0" y="2047803"/>
            <a:ext cx="12192000" cy="5102505"/>
          </a:xfrm>
        </p:spPr>
        <p:txBody>
          <a:bodyPr/>
          <a:lstStyle/>
          <a:p>
            <a:r>
              <a:rPr lang="en-US" sz="2000" dirty="0"/>
              <a:t>Major Project Synopsis presentation on</a:t>
            </a:r>
          </a:p>
          <a:p>
            <a:r>
              <a:rPr lang="en-US" b="1" dirty="0">
                <a:solidFill>
                  <a:srgbClr val="C00000"/>
                </a:solidFill>
              </a:rPr>
              <a:t>“Design and Analysis of 6T SRAM Cell Using Cadence Virtuoso ”</a:t>
            </a:r>
          </a:p>
          <a:p>
            <a:r>
              <a:rPr lang="en-US" sz="2000" dirty="0"/>
              <a:t>by</a:t>
            </a:r>
          </a:p>
          <a:p>
            <a:endParaRPr lang="en-US" sz="2000" dirty="0"/>
          </a:p>
          <a:p>
            <a:endParaRPr lang="en-US" sz="2000" dirty="0"/>
          </a:p>
          <a:p>
            <a:endParaRPr lang="en-US" sz="2000" dirty="0"/>
          </a:p>
          <a:p>
            <a:endParaRPr lang="en-US" sz="400" dirty="0"/>
          </a:p>
          <a:p>
            <a:r>
              <a:rPr lang="en-US" sz="2000" dirty="0"/>
              <a:t>Under the guidance of</a:t>
            </a:r>
          </a:p>
          <a:p>
            <a:r>
              <a:rPr lang="en-IN" sz="2000" b="1" dirty="0"/>
              <a:t>AJAY BETUR P</a:t>
            </a:r>
            <a:endParaRPr lang="en-US" sz="1800" b="1" dirty="0"/>
          </a:p>
          <a:p>
            <a:pPr>
              <a:lnSpc>
                <a:spcPct val="100000"/>
              </a:lnSpc>
              <a:spcBef>
                <a:spcPts val="0"/>
              </a:spcBef>
            </a:pPr>
            <a:r>
              <a:rPr lang="en-US" sz="2000" b="1" dirty="0"/>
              <a:t> </a:t>
            </a:r>
            <a:r>
              <a:rPr lang="en-US" sz="2000" dirty="0"/>
              <a:t>Assistant Professor</a:t>
            </a:r>
          </a:p>
          <a:p>
            <a:pPr>
              <a:lnSpc>
                <a:spcPct val="100000"/>
              </a:lnSpc>
              <a:spcBef>
                <a:spcPts val="0"/>
              </a:spcBef>
            </a:pPr>
            <a:r>
              <a:rPr lang="en-US" sz="2000" dirty="0"/>
              <a:t>Department of Electronics and Communication Engineering</a:t>
            </a:r>
          </a:p>
          <a:p>
            <a:pPr>
              <a:lnSpc>
                <a:spcPct val="100000"/>
              </a:lnSpc>
              <a:spcBef>
                <a:spcPts val="0"/>
              </a:spcBef>
            </a:pPr>
            <a:r>
              <a:rPr lang="en-US" sz="2000" dirty="0"/>
              <a:t>JNN College of Engineering, Shivamogga- 577204</a:t>
            </a:r>
          </a:p>
          <a:p>
            <a:r>
              <a:rPr lang="en-US" sz="2000" dirty="0"/>
              <a:t>2026</a:t>
            </a:r>
          </a:p>
        </p:txBody>
      </p:sp>
      <p:pic>
        <p:nvPicPr>
          <p:cNvPr id="8" name="Picture 7">
            <a:extLst>
              <a:ext uri="{FF2B5EF4-FFF2-40B4-BE49-F238E27FC236}">
                <a16:creationId xmlns:a16="http://schemas.microsoft.com/office/drawing/2014/main" id="{EFB49E64-22AC-4B52-94E6-FBE2E80B216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605308" y="685834"/>
            <a:ext cx="981385" cy="1380072"/>
          </a:xfrm>
          <a:prstGeom prst="rect">
            <a:avLst/>
          </a:prstGeom>
        </p:spPr>
      </p:pic>
      <p:sp>
        <p:nvSpPr>
          <p:cNvPr id="12" name="TextBox 11">
            <a:extLst>
              <a:ext uri="{FF2B5EF4-FFF2-40B4-BE49-F238E27FC236}">
                <a16:creationId xmlns:a16="http://schemas.microsoft.com/office/drawing/2014/main" id="{5A290D39-BF9A-4242-B075-882547ADE47D}"/>
              </a:ext>
            </a:extLst>
          </p:cNvPr>
          <p:cNvSpPr txBox="1"/>
          <p:nvPr/>
        </p:nvSpPr>
        <p:spPr>
          <a:xfrm>
            <a:off x="3297492" y="3237276"/>
            <a:ext cx="6098458" cy="1323439"/>
          </a:xfrm>
          <a:prstGeom prst="rect">
            <a:avLst/>
          </a:prstGeom>
          <a:noFill/>
        </p:spPr>
        <p:txBody>
          <a:bodyPr wrap="square">
            <a:spAutoFit/>
          </a:bodyPr>
          <a:lstStyle/>
          <a:p>
            <a:pPr algn="ctr"/>
            <a:r>
              <a:rPr lang="en-US" sz="2000" b="1" dirty="0">
                <a:latin typeface="Calibri (Body)"/>
              </a:rPr>
              <a:t>ABHISHEK B P </a:t>
            </a:r>
            <a:r>
              <a:rPr lang="en-US" sz="2000" dirty="0">
                <a:latin typeface="Calibri (Body)"/>
              </a:rPr>
              <a:t>:</a:t>
            </a:r>
            <a:r>
              <a:rPr lang="en-US" sz="2000" b="1" dirty="0">
                <a:latin typeface="Calibri (Body)"/>
              </a:rPr>
              <a:t> 4JN23EC002</a:t>
            </a:r>
          </a:p>
          <a:p>
            <a:pPr algn="ctr"/>
            <a:r>
              <a:rPr lang="en-US" sz="2000" b="1" dirty="0">
                <a:latin typeface="Calibri (Body)"/>
              </a:rPr>
              <a:t> ARJUN R          </a:t>
            </a:r>
            <a:r>
              <a:rPr lang="en-US" sz="2000" dirty="0">
                <a:latin typeface="Calibri (Body)"/>
              </a:rPr>
              <a:t>:</a:t>
            </a:r>
            <a:r>
              <a:rPr lang="en-US" sz="2000" b="1" dirty="0">
                <a:latin typeface="Calibri (Body)"/>
              </a:rPr>
              <a:t> 4JN23EC016</a:t>
            </a:r>
          </a:p>
          <a:p>
            <a:pPr algn="ctr"/>
            <a:r>
              <a:rPr lang="en-US" sz="2000" b="1" dirty="0">
                <a:latin typeface="Calibri (Body)"/>
              </a:rPr>
              <a:t> JEEVAN JM      </a:t>
            </a:r>
            <a:r>
              <a:rPr lang="en-US" sz="2000" dirty="0">
                <a:latin typeface="Calibri (Body)"/>
              </a:rPr>
              <a:t>:</a:t>
            </a:r>
            <a:r>
              <a:rPr lang="en-US" sz="2000" b="1" dirty="0">
                <a:latin typeface="Calibri (Body)"/>
              </a:rPr>
              <a:t> 4JN23EC036</a:t>
            </a:r>
          </a:p>
          <a:p>
            <a:pPr algn="ctr"/>
            <a:r>
              <a:rPr lang="en-US" sz="2000" b="1" dirty="0">
                <a:latin typeface="Calibri (Body)"/>
              </a:rPr>
              <a:t> MITHUN SV     </a:t>
            </a:r>
            <a:r>
              <a:rPr lang="en-US" sz="2000" dirty="0">
                <a:latin typeface="Calibri (Body)"/>
              </a:rPr>
              <a:t>:</a:t>
            </a:r>
            <a:r>
              <a:rPr lang="en-US" sz="2000" b="1" dirty="0">
                <a:latin typeface="Calibri (Body)"/>
              </a:rPr>
              <a:t> 4JN23EC049</a:t>
            </a:r>
          </a:p>
        </p:txBody>
      </p:sp>
      <p:sp>
        <p:nvSpPr>
          <p:cNvPr id="14" name="TextBox 13">
            <a:extLst>
              <a:ext uri="{FF2B5EF4-FFF2-40B4-BE49-F238E27FC236}">
                <a16:creationId xmlns:a16="http://schemas.microsoft.com/office/drawing/2014/main" id="{774CEC77-9CCD-411E-8372-C6A7C7BE7323}"/>
              </a:ext>
            </a:extLst>
          </p:cNvPr>
          <p:cNvSpPr txBox="1"/>
          <p:nvPr/>
        </p:nvSpPr>
        <p:spPr>
          <a:xfrm>
            <a:off x="0" y="6488668"/>
            <a:ext cx="1178333" cy="369332"/>
          </a:xfrm>
          <a:prstGeom prst="rect">
            <a:avLst/>
          </a:prstGeom>
          <a:noFill/>
        </p:spPr>
        <p:txBody>
          <a:bodyPr wrap="square">
            <a:spAutoFit/>
          </a:bodyPr>
          <a:lstStyle/>
          <a:p>
            <a:r>
              <a:rPr lang="en-US" sz="1800" dirty="0">
                <a:solidFill>
                  <a:srgbClr val="FF6600"/>
                </a:solidFill>
                <a:latin typeface="Calibri (Body)"/>
              </a:rPr>
              <a:t>Batch 03</a:t>
            </a:r>
            <a:endParaRPr lang="en-US" dirty="0">
              <a:solidFill>
                <a:srgbClr val="FF66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48A6B-0029-4EBA-B477-6D7C80EA9163}"/>
              </a:ext>
            </a:extLst>
          </p:cNvPr>
          <p:cNvSpPr>
            <a:spLocks noGrp="1"/>
          </p:cNvSpPr>
          <p:nvPr>
            <p:ph type="title"/>
          </p:nvPr>
        </p:nvSpPr>
        <p:spPr>
          <a:xfrm>
            <a:off x="838200" y="953350"/>
            <a:ext cx="10515600" cy="594519"/>
          </a:xfrm>
        </p:spPr>
        <p:txBody>
          <a:bodyPr/>
          <a:lstStyle/>
          <a:p>
            <a:r>
              <a:rPr lang="en-US" b="1" dirty="0">
                <a:solidFill>
                  <a:srgbClr val="C00000"/>
                </a:solidFill>
              </a:rPr>
              <a:t>Presentation Flow</a:t>
            </a:r>
          </a:p>
        </p:txBody>
      </p:sp>
      <p:sp>
        <p:nvSpPr>
          <p:cNvPr id="3" name="Content Placeholder 2">
            <a:extLst>
              <a:ext uri="{FF2B5EF4-FFF2-40B4-BE49-F238E27FC236}">
                <a16:creationId xmlns:a16="http://schemas.microsoft.com/office/drawing/2014/main" id="{1C244F77-8419-4C1D-B72F-B6A3B194174E}"/>
              </a:ext>
            </a:extLst>
          </p:cNvPr>
          <p:cNvSpPr>
            <a:spLocks noGrp="1"/>
          </p:cNvSpPr>
          <p:nvPr>
            <p:ph idx="1"/>
          </p:nvPr>
        </p:nvSpPr>
        <p:spPr>
          <a:xfrm>
            <a:off x="838200" y="1547869"/>
            <a:ext cx="10515600" cy="4129044"/>
          </a:xfrm>
        </p:spPr>
        <p:txBody>
          <a:bodyPr/>
          <a:lstStyle/>
          <a:p>
            <a:r>
              <a:rPr lang="en-US" sz="2400" dirty="0"/>
              <a:t>Introduction</a:t>
            </a:r>
          </a:p>
          <a:p>
            <a:r>
              <a:rPr lang="en-US" sz="2400" dirty="0"/>
              <a:t>Literature Survey</a:t>
            </a:r>
          </a:p>
          <a:p>
            <a:r>
              <a:rPr lang="en-US" sz="2400" dirty="0"/>
              <a:t>Aim of the Project </a:t>
            </a:r>
          </a:p>
          <a:p>
            <a:r>
              <a:rPr lang="en-US" sz="2400" dirty="0"/>
              <a:t>Objectives</a:t>
            </a:r>
          </a:p>
          <a:p>
            <a:r>
              <a:rPr lang="en-US" sz="2400" dirty="0"/>
              <a:t>Methodology</a:t>
            </a:r>
          </a:p>
          <a:p>
            <a:r>
              <a:rPr lang="en-US" sz="2400" dirty="0">
                <a:effectLst/>
                <a:latin typeface="Calibri" panose="020F0502020204030204" pitchFamily="34" charset="0"/>
                <a:ea typeface="Calibri" panose="020F0502020204030204" pitchFamily="34" charset="0"/>
                <a:cs typeface="Times New Roman" panose="02020603050405020304" pitchFamily="18" charset="0"/>
              </a:rPr>
              <a:t>Results </a:t>
            </a:r>
          </a:p>
          <a:p>
            <a:r>
              <a:rPr lang="en-US" sz="2400" dirty="0">
                <a:latin typeface="Calibri" panose="020F0502020204030204" pitchFamily="34" charset="0"/>
                <a:ea typeface="Calibri" panose="020F0502020204030204" pitchFamily="34" charset="0"/>
                <a:cs typeface="Times New Roman" panose="02020603050405020304" pitchFamily="18" charset="0"/>
              </a:rPr>
              <a:t>Action plan</a:t>
            </a:r>
            <a:endParaRPr lang="en-US" sz="2400" dirty="0"/>
          </a:p>
          <a:p>
            <a:r>
              <a:rPr lang="en-US" sz="2400" dirty="0"/>
              <a:t>References</a:t>
            </a:r>
          </a:p>
        </p:txBody>
      </p:sp>
      <p:sp>
        <p:nvSpPr>
          <p:cNvPr id="5" name="Slide Number Placeholder 4">
            <a:extLst>
              <a:ext uri="{FF2B5EF4-FFF2-40B4-BE49-F238E27FC236}">
                <a16:creationId xmlns:a16="http://schemas.microsoft.com/office/drawing/2014/main" id="{52DC6897-2A35-4669-905D-E5C7155FCAE0}"/>
              </a:ext>
            </a:extLst>
          </p:cNvPr>
          <p:cNvSpPr>
            <a:spLocks noGrp="1"/>
          </p:cNvSpPr>
          <p:nvPr>
            <p:ph type="sldNum" sz="quarter" idx="12"/>
          </p:nvPr>
        </p:nvSpPr>
        <p:spPr/>
        <p:txBody>
          <a:bodyPr/>
          <a:lstStyle/>
          <a:p>
            <a:pPr>
              <a:defRPr/>
            </a:pPr>
            <a:fld id="{AAFC9A1D-E715-4FF0-BABF-4724B2795EE9}" type="slidenum">
              <a:rPr lang="en-IN" smtClean="0"/>
              <a:pPr>
                <a:defRPr/>
              </a:pPr>
              <a:t>2</a:t>
            </a:fld>
            <a:endParaRPr lang="en-IN"/>
          </a:p>
        </p:txBody>
      </p:sp>
      <p:sp>
        <p:nvSpPr>
          <p:cNvPr id="4" name="Date Placeholder 3">
            <a:extLst>
              <a:ext uri="{FF2B5EF4-FFF2-40B4-BE49-F238E27FC236}">
                <a16:creationId xmlns:a16="http://schemas.microsoft.com/office/drawing/2014/main" id="{7F8B0E38-9A9A-43EC-9BC8-370BB3964E89}"/>
              </a:ext>
            </a:extLst>
          </p:cNvPr>
          <p:cNvSpPr>
            <a:spLocks noGrp="1"/>
          </p:cNvSpPr>
          <p:nvPr>
            <p:ph type="dt" sz="half" idx="10"/>
          </p:nvPr>
        </p:nvSpPr>
        <p:spPr/>
        <p:txBody>
          <a:bodyPr/>
          <a:lstStyle/>
          <a:p>
            <a:pPr>
              <a:defRPr/>
            </a:pPr>
            <a:fld id="{FF0DF6B3-C101-4A16-930F-DEE646B44177}" type="datetime8">
              <a:rPr lang="en-IN" smtClean="0"/>
              <a:t>06-05-2026 14:01</a:t>
            </a:fld>
            <a:endParaRPr lang="en-IN"/>
          </a:p>
        </p:txBody>
      </p:sp>
    </p:spTree>
    <p:extLst>
      <p:ext uri="{BB962C8B-B14F-4D97-AF65-F5344CB8AC3E}">
        <p14:creationId xmlns:p14="http://schemas.microsoft.com/office/powerpoint/2010/main" val="17782364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5A9B0-092B-4168-9AF9-22140BD87396}"/>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22254F8A-D867-4BED-BE6F-4DDF5EED0E8D}"/>
              </a:ext>
            </a:extLst>
          </p:cNvPr>
          <p:cNvSpPr>
            <a:spLocks noGrp="1"/>
          </p:cNvSpPr>
          <p:nvPr>
            <p:ph idx="1"/>
          </p:nvPr>
        </p:nvSpPr>
        <p:spPr>
          <a:xfrm>
            <a:off x="243350" y="1884977"/>
            <a:ext cx="5230760" cy="4370234"/>
          </a:xfrm>
        </p:spPr>
        <p:txBody>
          <a:bodyPr/>
          <a:lstStyle/>
          <a:p>
            <a:pPr marL="0" indent="0" algn="just">
              <a:buNone/>
            </a:pPr>
            <a:r>
              <a:rPr lang="en-US" sz="2000" dirty="0"/>
              <a:t>Static Random-Access Memory (</a:t>
            </a:r>
            <a:r>
              <a:rPr lang="en-US" sz="2000" b="1" dirty="0">
                <a:solidFill>
                  <a:srgbClr val="1F4E78"/>
                </a:solidFill>
              </a:rPr>
              <a:t>SRAM</a:t>
            </a:r>
            <a:r>
              <a:rPr lang="en-US" sz="2000" dirty="0"/>
              <a:t>) is a semiconductor memory used in </a:t>
            </a:r>
            <a:r>
              <a:rPr lang="en-US" sz="2000" b="1" dirty="0">
                <a:solidFill>
                  <a:srgbClr val="1F4E78"/>
                </a:solidFill>
              </a:rPr>
              <a:t>high-speed applications</a:t>
            </a:r>
            <a:r>
              <a:rPr lang="en-US" sz="2000" dirty="0"/>
              <a:t> such as cache memory and embedded systems. The </a:t>
            </a:r>
            <a:r>
              <a:rPr lang="en-US" sz="2000" b="1" dirty="0">
                <a:solidFill>
                  <a:srgbClr val="1F4E78"/>
                </a:solidFill>
              </a:rPr>
              <a:t>6T SRAM cell</a:t>
            </a:r>
            <a:r>
              <a:rPr lang="en-US" sz="2000" dirty="0"/>
              <a:t> consists of six transistors—two cross-coupled </a:t>
            </a:r>
            <a:r>
              <a:rPr lang="en-US" sz="2000" b="1" dirty="0">
                <a:solidFill>
                  <a:srgbClr val="1F4E78"/>
                </a:solidFill>
              </a:rPr>
              <a:t>CMOS</a:t>
            </a:r>
            <a:r>
              <a:rPr lang="en-US" sz="2000" dirty="0"/>
              <a:t> inverters formed by </a:t>
            </a:r>
            <a:r>
              <a:rPr lang="en-US" sz="2000" b="1" dirty="0">
                <a:solidFill>
                  <a:srgbClr val="1F4E78"/>
                </a:solidFill>
              </a:rPr>
              <a:t>PMOS</a:t>
            </a:r>
            <a:r>
              <a:rPr lang="en-US" sz="2000" dirty="0"/>
              <a:t> and </a:t>
            </a:r>
            <a:r>
              <a:rPr lang="en-US" sz="2000" b="1" dirty="0">
                <a:solidFill>
                  <a:srgbClr val="1F4E78"/>
                </a:solidFill>
              </a:rPr>
              <a:t>NMOS</a:t>
            </a:r>
            <a:r>
              <a:rPr lang="en-US" sz="2000" dirty="0"/>
              <a:t> transistors, and two access transistors that control read/write operations. Unlike DRAM, SRAM retains data without periodic refreshing, making it ideal for </a:t>
            </a:r>
            <a:r>
              <a:rPr lang="en-US" sz="2000" b="1" dirty="0">
                <a:solidFill>
                  <a:srgbClr val="1F4E78"/>
                </a:solidFill>
              </a:rPr>
              <a:t>VLSI systems</a:t>
            </a:r>
            <a:r>
              <a:rPr lang="en-US" sz="2000" dirty="0"/>
              <a:t> requiring fast and reliable memory access.</a:t>
            </a:r>
          </a:p>
        </p:txBody>
      </p:sp>
      <p:sp>
        <p:nvSpPr>
          <p:cNvPr id="4" name="Date Placeholder 3">
            <a:extLst>
              <a:ext uri="{FF2B5EF4-FFF2-40B4-BE49-F238E27FC236}">
                <a16:creationId xmlns:a16="http://schemas.microsoft.com/office/drawing/2014/main" id="{EF205B86-1C18-4DA8-864E-E39C113A5A5B}"/>
              </a:ext>
            </a:extLst>
          </p:cNvPr>
          <p:cNvSpPr>
            <a:spLocks noGrp="1"/>
          </p:cNvSpPr>
          <p:nvPr>
            <p:ph type="dt" sz="half" idx="10"/>
          </p:nvPr>
        </p:nvSpPr>
        <p:spPr/>
        <p:txBody>
          <a:bodyPr/>
          <a:lstStyle/>
          <a:p>
            <a:pPr>
              <a:defRPr/>
            </a:pPr>
            <a:fld id="{B0B64DD1-891F-4385-A8A0-40ABED296F50}" type="datetime8">
              <a:rPr lang="en-IN" smtClean="0"/>
              <a:t>06-05-2026 14:01</a:t>
            </a:fld>
            <a:endParaRPr lang="en-IN"/>
          </a:p>
        </p:txBody>
      </p:sp>
      <p:sp>
        <p:nvSpPr>
          <p:cNvPr id="6" name="AutoShape 2">
            <a:extLst>
              <a:ext uri="{FF2B5EF4-FFF2-40B4-BE49-F238E27FC236}">
                <a16:creationId xmlns:a16="http://schemas.microsoft.com/office/drawing/2014/main" id="{FA2B5215-86BB-05BD-236C-CC1D05C26EC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4">
            <a:extLst>
              <a:ext uri="{FF2B5EF4-FFF2-40B4-BE49-F238E27FC236}">
                <a16:creationId xmlns:a16="http://schemas.microsoft.com/office/drawing/2014/main" id="{308A129A-BE15-B2B8-288D-2A45138155D1}"/>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AutoShape 6">
            <a:extLst>
              <a:ext uri="{FF2B5EF4-FFF2-40B4-BE49-F238E27FC236}">
                <a16:creationId xmlns:a16="http://schemas.microsoft.com/office/drawing/2014/main" id="{F92614CA-64D3-05AB-7C2D-823E527B059B}"/>
              </a:ext>
            </a:extLst>
          </p:cNvPr>
          <p:cNvSpPr>
            <a:spLocks noChangeAspect="1" noChangeArrowheads="1"/>
          </p:cNvSpPr>
          <p:nvPr/>
        </p:nvSpPr>
        <p:spPr bwMode="auto">
          <a:xfrm>
            <a:off x="6248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AutoShape 8">
            <a:extLst>
              <a:ext uri="{FF2B5EF4-FFF2-40B4-BE49-F238E27FC236}">
                <a16:creationId xmlns:a16="http://schemas.microsoft.com/office/drawing/2014/main" id="{33FACA3F-7D5F-CE62-DBA2-0612514A0B8A}"/>
              </a:ext>
            </a:extLst>
          </p:cNvPr>
          <p:cNvSpPr>
            <a:spLocks noChangeAspect="1" noChangeArrowheads="1"/>
          </p:cNvSpPr>
          <p:nvPr/>
        </p:nvSpPr>
        <p:spPr bwMode="auto">
          <a:xfrm>
            <a:off x="7796980" y="3576484"/>
            <a:ext cx="1956619" cy="195661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3" name="TextBox 12">
            <a:extLst>
              <a:ext uri="{FF2B5EF4-FFF2-40B4-BE49-F238E27FC236}">
                <a16:creationId xmlns:a16="http://schemas.microsoft.com/office/drawing/2014/main" id="{A40ADA46-85A5-08BE-6F68-991CD7FD94A7}"/>
              </a:ext>
            </a:extLst>
          </p:cNvPr>
          <p:cNvSpPr txBox="1"/>
          <p:nvPr/>
        </p:nvSpPr>
        <p:spPr>
          <a:xfrm>
            <a:off x="8610602" y="6217850"/>
            <a:ext cx="4345858" cy="276999"/>
          </a:xfrm>
          <a:prstGeom prst="rect">
            <a:avLst/>
          </a:prstGeom>
          <a:noFill/>
        </p:spPr>
        <p:txBody>
          <a:bodyPr wrap="square" rtlCol="0">
            <a:spAutoFit/>
          </a:bodyPr>
          <a:lstStyle/>
          <a:p>
            <a:r>
              <a:rPr lang="en-IN" sz="1200" dirty="0"/>
              <a:t>Fig1:circuit diagram</a:t>
            </a:r>
          </a:p>
        </p:txBody>
      </p:sp>
      <p:sp>
        <p:nvSpPr>
          <p:cNvPr id="5" name="AutoShape 2">
            <a:extLst>
              <a:ext uri="{FF2B5EF4-FFF2-40B4-BE49-F238E27FC236}">
                <a16:creationId xmlns:a16="http://schemas.microsoft.com/office/drawing/2014/main" id="{6AB97407-7044-252D-1ACB-19BCE1A4942B}"/>
              </a:ext>
            </a:extLst>
          </p:cNvPr>
          <p:cNvSpPr>
            <a:spLocks noChangeAspect="1" noChangeArrowheads="1"/>
          </p:cNvSpPr>
          <p:nvPr/>
        </p:nvSpPr>
        <p:spPr bwMode="auto">
          <a:xfrm>
            <a:off x="6400800" y="3733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4">
            <a:extLst>
              <a:ext uri="{FF2B5EF4-FFF2-40B4-BE49-F238E27FC236}">
                <a16:creationId xmlns:a16="http://schemas.microsoft.com/office/drawing/2014/main" id="{D4FDA784-D8A0-5060-F063-60F09D185CC1}"/>
              </a:ext>
            </a:extLst>
          </p:cNvPr>
          <p:cNvSpPr>
            <a:spLocks noChangeAspect="1" noChangeArrowheads="1"/>
          </p:cNvSpPr>
          <p:nvPr/>
        </p:nvSpPr>
        <p:spPr bwMode="auto">
          <a:xfrm>
            <a:off x="6553200" y="38862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AutoShape 6">
            <a:extLst>
              <a:ext uri="{FF2B5EF4-FFF2-40B4-BE49-F238E27FC236}">
                <a16:creationId xmlns:a16="http://schemas.microsoft.com/office/drawing/2014/main" id="{D2A6C62C-0CAC-9155-44FB-2A86DC3A77F2}"/>
              </a:ext>
            </a:extLst>
          </p:cNvPr>
          <p:cNvSpPr>
            <a:spLocks noChangeAspect="1" noChangeArrowheads="1"/>
          </p:cNvSpPr>
          <p:nvPr/>
        </p:nvSpPr>
        <p:spPr bwMode="auto">
          <a:xfrm>
            <a:off x="6705600" y="4038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4" name="Picture 13">
            <a:extLst>
              <a:ext uri="{FF2B5EF4-FFF2-40B4-BE49-F238E27FC236}">
                <a16:creationId xmlns:a16="http://schemas.microsoft.com/office/drawing/2014/main" id="{024D455E-D93D-0B87-4DDB-029523F549B4}"/>
              </a:ext>
            </a:extLst>
          </p:cNvPr>
          <p:cNvPicPr>
            <a:picLocks noChangeAspect="1"/>
          </p:cNvPicPr>
          <p:nvPr/>
        </p:nvPicPr>
        <p:blipFill>
          <a:blip r:embed="rId2"/>
          <a:stretch>
            <a:fillRect/>
          </a:stretch>
        </p:blipFill>
        <p:spPr>
          <a:xfrm>
            <a:off x="5722376" y="1783839"/>
            <a:ext cx="5776452" cy="3884841"/>
          </a:xfrm>
          <a:prstGeom prst="rect">
            <a:avLst/>
          </a:prstGeom>
        </p:spPr>
      </p:pic>
    </p:spTree>
    <p:extLst>
      <p:ext uri="{BB962C8B-B14F-4D97-AF65-F5344CB8AC3E}">
        <p14:creationId xmlns:p14="http://schemas.microsoft.com/office/powerpoint/2010/main" val="39548972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6F335-6663-4EB7-85DB-24DDCDFE71C3}"/>
              </a:ext>
            </a:extLst>
          </p:cNvPr>
          <p:cNvSpPr>
            <a:spLocks noGrp="1"/>
          </p:cNvSpPr>
          <p:nvPr>
            <p:ph type="title"/>
          </p:nvPr>
        </p:nvSpPr>
        <p:spPr/>
        <p:txBody>
          <a:bodyPr/>
          <a:lstStyle/>
          <a:p>
            <a:r>
              <a:rPr lang="en-US" dirty="0"/>
              <a:t>Aim of the Project </a:t>
            </a:r>
          </a:p>
        </p:txBody>
      </p:sp>
      <p:sp>
        <p:nvSpPr>
          <p:cNvPr id="3" name="Content Placeholder 2">
            <a:extLst>
              <a:ext uri="{FF2B5EF4-FFF2-40B4-BE49-F238E27FC236}">
                <a16:creationId xmlns:a16="http://schemas.microsoft.com/office/drawing/2014/main" id="{3605E25E-7A5B-4D4B-ADE6-659A08BC478E}"/>
              </a:ext>
            </a:extLst>
          </p:cNvPr>
          <p:cNvSpPr>
            <a:spLocks noGrp="1"/>
          </p:cNvSpPr>
          <p:nvPr>
            <p:ph idx="1"/>
          </p:nvPr>
        </p:nvSpPr>
        <p:spPr>
          <a:xfrm>
            <a:off x="474407" y="2005572"/>
            <a:ext cx="10515600" cy="4129044"/>
          </a:xfrm>
        </p:spPr>
        <p:txBody>
          <a:bodyPr/>
          <a:lstStyle/>
          <a:p>
            <a:r>
              <a:rPr lang="en-US" sz="2000" dirty="0"/>
              <a:t>To design and analyze the 6T SRAM cell using Cadence Virtuoso, evaluating its performance characteristics including read/write stability, power consumption, and operational behavior in CMOS technology.</a:t>
            </a:r>
          </a:p>
        </p:txBody>
      </p:sp>
      <p:sp>
        <p:nvSpPr>
          <p:cNvPr id="4" name="Date Placeholder 3">
            <a:extLst>
              <a:ext uri="{FF2B5EF4-FFF2-40B4-BE49-F238E27FC236}">
                <a16:creationId xmlns:a16="http://schemas.microsoft.com/office/drawing/2014/main" id="{176D0C8E-2577-4370-827F-D7A6FF2790A5}"/>
              </a:ext>
            </a:extLst>
          </p:cNvPr>
          <p:cNvSpPr>
            <a:spLocks noGrp="1"/>
          </p:cNvSpPr>
          <p:nvPr>
            <p:ph type="dt" sz="half" idx="10"/>
          </p:nvPr>
        </p:nvSpPr>
        <p:spPr/>
        <p:txBody>
          <a:bodyPr/>
          <a:lstStyle/>
          <a:p>
            <a:pPr>
              <a:defRPr/>
            </a:pPr>
            <a:fld id="{4766E6D6-2628-4F9B-BF57-22B0C47C3C57}" type="datetime8">
              <a:rPr lang="en-IN" smtClean="0"/>
              <a:t>06-05-2026 14:01</a:t>
            </a:fld>
            <a:endParaRPr lang="en-IN"/>
          </a:p>
        </p:txBody>
      </p:sp>
      <p:sp>
        <p:nvSpPr>
          <p:cNvPr id="5" name="Slide Number Placeholder 4">
            <a:extLst>
              <a:ext uri="{FF2B5EF4-FFF2-40B4-BE49-F238E27FC236}">
                <a16:creationId xmlns:a16="http://schemas.microsoft.com/office/drawing/2014/main" id="{0AFEFD52-B118-46A8-AA38-5BEBBA0D9762}"/>
              </a:ext>
            </a:extLst>
          </p:cNvPr>
          <p:cNvSpPr>
            <a:spLocks noGrp="1"/>
          </p:cNvSpPr>
          <p:nvPr>
            <p:ph type="sldNum" sz="quarter" idx="12"/>
          </p:nvPr>
        </p:nvSpPr>
        <p:spPr/>
        <p:txBody>
          <a:bodyPr/>
          <a:lstStyle/>
          <a:p>
            <a:pPr>
              <a:defRPr/>
            </a:pPr>
            <a:fld id="{AAFC9A1D-E715-4FF0-BABF-4724B2795EE9}" type="slidenum">
              <a:rPr lang="en-IN" smtClean="0"/>
              <a:pPr>
                <a:defRPr/>
              </a:pPr>
              <a:t>4</a:t>
            </a:fld>
            <a:endParaRPr lang="en-IN"/>
          </a:p>
        </p:txBody>
      </p:sp>
    </p:spTree>
    <p:extLst>
      <p:ext uri="{BB962C8B-B14F-4D97-AF65-F5344CB8AC3E}">
        <p14:creationId xmlns:p14="http://schemas.microsoft.com/office/powerpoint/2010/main" val="3681728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1A632-B04D-6A71-F614-00FA6C4477F5}"/>
              </a:ext>
            </a:extLst>
          </p:cNvPr>
          <p:cNvSpPr>
            <a:spLocks noGrp="1"/>
          </p:cNvSpPr>
          <p:nvPr>
            <p:ph type="title"/>
          </p:nvPr>
        </p:nvSpPr>
        <p:spPr/>
        <p:txBody>
          <a:bodyPr/>
          <a:lstStyle/>
          <a:p>
            <a:r>
              <a:rPr lang="en-US" dirty="0"/>
              <a:t>Literature Survey</a:t>
            </a:r>
            <a:endParaRPr lang="en-IN" dirty="0"/>
          </a:p>
        </p:txBody>
      </p:sp>
      <p:sp>
        <p:nvSpPr>
          <p:cNvPr id="4" name="Date Placeholder 3">
            <a:extLst>
              <a:ext uri="{FF2B5EF4-FFF2-40B4-BE49-F238E27FC236}">
                <a16:creationId xmlns:a16="http://schemas.microsoft.com/office/drawing/2014/main" id="{749FEFE8-29D6-BE9F-87A1-E9701F76DE68}"/>
              </a:ext>
            </a:extLst>
          </p:cNvPr>
          <p:cNvSpPr>
            <a:spLocks noGrp="1"/>
          </p:cNvSpPr>
          <p:nvPr>
            <p:ph type="dt" sz="half" idx="10"/>
          </p:nvPr>
        </p:nvSpPr>
        <p:spPr/>
        <p:txBody>
          <a:bodyPr/>
          <a:lstStyle/>
          <a:p>
            <a:pPr>
              <a:defRPr/>
            </a:pPr>
            <a:fld id="{9FCC6B52-9971-410F-B970-172C9ABC021C}" type="datetime8">
              <a:rPr lang="en-IN" smtClean="0"/>
              <a:t>06-05-2026 14:11</a:t>
            </a:fld>
            <a:endParaRPr lang="en-IN"/>
          </a:p>
        </p:txBody>
      </p:sp>
      <p:sp>
        <p:nvSpPr>
          <p:cNvPr id="5" name="Slide Number Placeholder 4">
            <a:extLst>
              <a:ext uri="{FF2B5EF4-FFF2-40B4-BE49-F238E27FC236}">
                <a16:creationId xmlns:a16="http://schemas.microsoft.com/office/drawing/2014/main" id="{E7D3FAE5-68A3-8096-D504-D25FCB90C126}"/>
              </a:ext>
            </a:extLst>
          </p:cNvPr>
          <p:cNvSpPr>
            <a:spLocks noGrp="1"/>
          </p:cNvSpPr>
          <p:nvPr>
            <p:ph type="sldNum" sz="quarter" idx="12"/>
          </p:nvPr>
        </p:nvSpPr>
        <p:spPr/>
        <p:txBody>
          <a:bodyPr/>
          <a:lstStyle/>
          <a:p>
            <a:pPr>
              <a:defRPr/>
            </a:pPr>
            <a:fld id="{AAFC9A1D-E715-4FF0-BABF-4724B2795EE9}" type="slidenum">
              <a:rPr lang="en-IN" smtClean="0"/>
              <a:pPr>
                <a:defRPr/>
              </a:pPr>
              <a:t>5</a:t>
            </a:fld>
            <a:endParaRPr lang="en-IN"/>
          </a:p>
        </p:txBody>
      </p:sp>
      <p:graphicFrame>
        <p:nvGraphicFramePr>
          <p:cNvPr id="6" name="Google Shape;123;p17">
            <a:extLst>
              <a:ext uri="{FF2B5EF4-FFF2-40B4-BE49-F238E27FC236}">
                <a16:creationId xmlns:a16="http://schemas.microsoft.com/office/drawing/2014/main" id="{AE80E31E-C4FF-E616-4629-F2A47542E18F}"/>
              </a:ext>
            </a:extLst>
          </p:cNvPr>
          <p:cNvGraphicFramePr>
            <a:graphicFrameLocks noGrp="1"/>
          </p:cNvGraphicFramePr>
          <p:nvPr>
            <p:ph idx="1"/>
            <p:extLst>
              <p:ext uri="{D42A27DB-BD31-4B8C-83A1-F6EECF244321}">
                <p14:modId xmlns:p14="http://schemas.microsoft.com/office/powerpoint/2010/main" val="3486539073"/>
              </p:ext>
            </p:extLst>
          </p:nvPr>
        </p:nvGraphicFramePr>
        <p:xfrm>
          <a:off x="527075" y="1771391"/>
          <a:ext cx="11137850" cy="4584959"/>
        </p:xfrm>
        <a:graphic>
          <a:graphicData uri="http://schemas.openxmlformats.org/drawingml/2006/table">
            <a:tbl>
              <a:tblPr>
                <a:noFill/>
              </a:tblPr>
              <a:tblGrid>
                <a:gridCol w="2227250">
                  <a:extLst>
                    <a:ext uri="{9D8B030D-6E8A-4147-A177-3AD203B41FA5}">
                      <a16:colId xmlns:a16="http://schemas.microsoft.com/office/drawing/2014/main" val="20000"/>
                    </a:ext>
                  </a:extLst>
                </a:gridCol>
                <a:gridCol w="2227250">
                  <a:extLst>
                    <a:ext uri="{9D8B030D-6E8A-4147-A177-3AD203B41FA5}">
                      <a16:colId xmlns:a16="http://schemas.microsoft.com/office/drawing/2014/main" val="20001"/>
                    </a:ext>
                  </a:extLst>
                </a:gridCol>
                <a:gridCol w="2228850">
                  <a:extLst>
                    <a:ext uri="{9D8B030D-6E8A-4147-A177-3AD203B41FA5}">
                      <a16:colId xmlns:a16="http://schemas.microsoft.com/office/drawing/2014/main" val="20002"/>
                    </a:ext>
                  </a:extLst>
                </a:gridCol>
                <a:gridCol w="2227250">
                  <a:extLst>
                    <a:ext uri="{9D8B030D-6E8A-4147-A177-3AD203B41FA5}">
                      <a16:colId xmlns:a16="http://schemas.microsoft.com/office/drawing/2014/main" val="20003"/>
                    </a:ext>
                  </a:extLst>
                </a:gridCol>
                <a:gridCol w="2227250">
                  <a:extLst>
                    <a:ext uri="{9D8B030D-6E8A-4147-A177-3AD203B41FA5}">
                      <a16:colId xmlns:a16="http://schemas.microsoft.com/office/drawing/2014/main" val="20004"/>
                    </a:ext>
                  </a:extLst>
                </a:gridCol>
              </a:tblGrid>
              <a:tr h="927349">
                <a:tc>
                  <a:txBody>
                    <a:bodyPr/>
                    <a:lstStyle/>
                    <a:p>
                      <a:pPr marL="0" marR="0" lvl="0" indent="0" algn="l" rtl="0">
                        <a:lnSpc>
                          <a:spcPct val="100000"/>
                        </a:lnSpc>
                        <a:spcBef>
                          <a:spcPts val="0"/>
                        </a:spcBef>
                        <a:spcAft>
                          <a:spcPts val="0"/>
                        </a:spcAft>
                        <a:buClr>
                          <a:srgbClr val="FFFFFF"/>
                        </a:buClr>
                        <a:buSzPts val="1800"/>
                        <a:buFont typeface="Calibri"/>
                        <a:buNone/>
                      </a:pPr>
                      <a:r>
                        <a:rPr lang="en-US" sz="1800" b="1" i="0" u="none" strike="noStrike" cap="none" dirty="0">
                          <a:solidFill>
                            <a:srgbClr val="FFFFFF"/>
                          </a:solidFill>
                          <a:latin typeface="Calibri"/>
                          <a:ea typeface="Calibri"/>
                          <a:cs typeface="Calibri"/>
                          <a:sym typeface="Calibri"/>
                        </a:rPr>
                        <a:t>Authors,</a:t>
                      </a:r>
                      <a:endParaRPr dirty="0"/>
                    </a:p>
                    <a:p>
                      <a:pPr marL="0" marR="0" lvl="0" indent="0" algn="l" rtl="0">
                        <a:lnSpc>
                          <a:spcPct val="100000"/>
                        </a:lnSpc>
                        <a:spcBef>
                          <a:spcPts val="0"/>
                        </a:spcBef>
                        <a:spcAft>
                          <a:spcPts val="0"/>
                        </a:spcAft>
                        <a:buClr>
                          <a:srgbClr val="FFFFFF"/>
                        </a:buClr>
                        <a:buSzPts val="1800"/>
                        <a:buFont typeface="Calibri"/>
                        <a:buNone/>
                      </a:pPr>
                      <a:r>
                        <a:rPr lang="en-US" sz="1800" b="1" i="0" u="none" strike="noStrike" cap="none" dirty="0">
                          <a:solidFill>
                            <a:srgbClr val="FFFFFF"/>
                          </a:solidFill>
                          <a:latin typeface="Calibri"/>
                          <a:ea typeface="Calibri"/>
                          <a:cs typeface="Calibri"/>
                          <a:sym typeface="Calibri"/>
                        </a:rPr>
                        <a:t>Year of publication, type of journal</a:t>
                      </a:r>
                      <a:endParaRPr dirty="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l" rtl="0">
                        <a:lnSpc>
                          <a:spcPct val="100000"/>
                        </a:lnSpc>
                        <a:spcBef>
                          <a:spcPts val="0"/>
                        </a:spcBef>
                        <a:spcAft>
                          <a:spcPts val="0"/>
                        </a:spcAft>
                        <a:buClr>
                          <a:srgbClr val="FFFFFF"/>
                        </a:buClr>
                        <a:buSzPts val="1800"/>
                        <a:buFont typeface="Calibri"/>
                        <a:buNone/>
                      </a:pPr>
                      <a:r>
                        <a:rPr lang="en-US" sz="1800" b="1" i="0" u="none" strike="noStrike" cap="none">
                          <a:solidFill>
                            <a:srgbClr val="FFFFFF"/>
                          </a:solidFill>
                          <a:latin typeface="Calibri"/>
                          <a:ea typeface="Calibri"/>
                          <a:cs typeface="Calibri"/>
                          <a:sym typeface="Calibri"/>
                        </a:rPr>
                        <a:t>Methodology</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l" rtl="0">
                        <a:lnSpc>
                          <a:spcPct val="100000"/>
                        </a:lnSpc>
                        <a:spcBef>
                          <a:spcPts val="0"/>
                        </a:spcBef>
                        <a:spcAft>
                          <a:spcPts val="0"/>
                        </a:spcAft>
                        <a:buClr>
                          <a:srgbClr val="FFFFFF"/>
                        </a:buClr>
                        <a:buSzPts val="1800"/>
                        <a:buFont typeface="Calibri"/>
                        <a:buNone/>
                      </a:pPr>
                      <a:r>
                        <a:rPr lang="en-US" sz="1800" b="1" i="0" u="none" strike="noStrike" cap="none">
                          <a:solidFill>
                            <a:srgbClr val="FFFFFF"/>
                          </a:solidFill>
                          <a:latin typeface="Calibri"/>
                          <a:ea typeface="Calibri"/>
                          <a:cs typeface="Calibri"/>
                          <a:sym typeface="Calibri"/>
                        </a:rPr>
                        <a:t>Results obtained</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l" rtl="0">
                        <a:lnSpc>
                          <a:spcPct val="100000"/>
                        </a:lnSpc>
                        <a:spcBef>
                          <a:spcPts val="0"/>
                        </a:spcBef>
                        <a:spcAft>
                          <a:spcPts val="0"/>
                        </a:spcAft>
                        <a:buClr>
                          <a:srgbClr val="FFFFFF"/>
                        </a:buClr>
                        <a:buSzPts val="1800"/>
                        <a:buFont typeface="Calibri"/>
                        <a:buNone/>
                      </a:pPr>
                      <a:r>
                        <a:rPr lang="en-US" sz="1800" b="1" i="0" u="none" strike="noStrike" cap="none">
                          <a:solidFill>
                            <a:srgbClr val="FFFFFF"/>
                          </a:solidFill>
                          <a:latin typeface="Calibri"/>
                          <a:ea typeface="Calibri"/>
                          <a:cs typeface="Calibri"/>
                          <a:sym typeface="Calibri"/>
                        </a:rPr>
                        <a:t>Advantages</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l" rtl="0">
                        <a:lnSpc>
                          <a:spcPct val="100000"/>
                        </a:lnSpc>
                        <a:spcBef>
                          <a:spcPts val="0"/>
                        </a:spcBef>
                        <a:spcAft>
                          <a:spcPts val="0"/>
                        </a:spcAft>
                        <a:buClr>
                          <a:srgbClr val="FFFFFF"/>
                        </a:buClr>
                        <a:buSzPts val="1800"/>
                        <a:buFont typeface="Calibri"/>
                        <a:buNone/>
                      </a:pPr>
                      <a:r>
                        <a:rPr lang="en-US" sz="1800" b="1" i="0" u="none" strike="noStrike" cap="none">
                          <a:solidFill>
                            <a:srgbClr val="FFFFFF"/>
                          </a:solidFill>
                          <a:latin typeface="Calibri"/>
                          <a:ea typeface="Calibri"/>
                          <a:cs typeface="Calibri"/>
                          <a:sym typeface="Calibri"/>
                        </a:rPr>
                        <a:t>Disadvantages</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3645162">
                <a:tc>
                  <a:txBody>
                    <a:bodyPr/>
                    <a:lstStyle/>
                    <a:p>
                      <a:pPr lvl="0" algn="l">
                        <a:lnSpc>
                          <a:spcPct val="100000"/>
                        </a:lnSpc>
                        <a:spcBef>
                          <a:spcPts val="0"/>
                        </a:spcBef>
                        <a:spcAft>
                          <a:spcPts val="0"/>
                        </a:spcAft>
                        <a:buNone/>
                      </a:pPr>
                      <a:r>
                        <a:rPr lang="en-US" b="1" dirty="0">
                          <a:solidFill>
                            <a:srgbClr val="FF0000"/>
                          </a:solidFill>
                        </a:rPr>
                        <a:t>Paper 1</a:t>
                      </a:r>
                      <a:r>
                        <a:rPr lang="en-US" dirty="0">
                          <a:solidFill>
                            <a:srgbClr val="FF0000"/>
                          </a:solidFill>
                        </a:rPr>
                        <a:t> </a:t>
                      </a:r>
                      <a:br>
                        <a:rPr lang="en-US" dirty="0"/>
                      </a:br>
                      <a:r>
                        <a:rPr lang="en-US" b="1" dirty="0"/>
                        <a:t>Design and Analysis of CMOS based 6T SRAM Cell at Different Technology Nodes</a:t>
                      </a:r>
                      <a:r>
                        <a:rPr lang="en-US" dirty="0"/>
                        <a:t> </a:t>
                      </a:r>
                      <a:br>
                        <a:rPr lang="en-US" dirty="0"/>
                      </a:br>
                      <a:r>
                        <a:rPr lang="en-US" i="1" dirty="0"/>
                        <a:t>K. Agarwal et al. (2020)</a:t>
                      </a:r>
                      <a:endParaRPr lang="en-US" dirty="0"/>
                    </a:p>
                    <a:p>
                      <a:pPr marL="0" marR="0" lvl="0" indent="0" algn="l">
                        <a:spcBef>
                          <a:spcPts val="0"/>
                        </a:spcBef>
                        <a:spcAft>
                          <a:spcPts val="0"/>
                        </a:spcAft>
                        <a:buNone/>
                      </a:pPr>
                      <a:endParaRPr lang="en-IN" dirty="0">
                        <a:sym typeface="Calibri"/>
                      </a:endParaRPr>
                    </a:p>
                    <a:p>
                      <a:pPr marL="0" marR="0" lvl="0" indent="0" algn="l" rtl="0">
                        <a:spcBef>
                          <a:spcPts val="0"/>
                        </a:spcBef>
                        <a:spcAft>
                          <a:spcPts val="0"/>
                        </a:spcAft>
                        <a:buNone/>
                      </a:pPr>
                      <a:endParaRPr lang="en-IN" sz="18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a:p>
                      <a:pPr marL="0" marR="0" lvl="0" indent="0" algn="l" rtl="0">
                        <a:spcBef>
                          <a:spcPts val="0"/>
                        </a:spcBef>
                        <a:spcAft>
                          <a:spcPts val="0"/>
                        </a:spcAft>
                        <a:buNone/>
                      </a:pPr>
                      <a:endParaRPr lang="en-IN" sz="18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a:p>
                      <a:pPr marL="0" marR="0" lvl="0" indent="0" algn="l" rtl="0">
                        <a:spcBef>
                          <a:spcPts val="0"/>
                        </a:spcBef>
                        <a:spcAft>
                          <a:spcPts val="0"/>
                        </a:spcAft>
                        <a:buNone/>
                      </a:pPr>
                      <a:endParaRPr lang="en-IN" sz="18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a:p>
                      <a:pPr marL="0" marR="0" lvl="0" indent="0" algn="l" rtl="0">
                        <a:spcBef>
                          <a:spcPts val="0"/>
                        </a:spcBef>
                        <a:spcAft>
                          <a:spcPts val="0"/>
                        </a:spcAft>
                        <a:buNone/>
                      </a:pPr>
                      <a:endParaRPr sz="18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2DEEF"/>
                    </a:solidFill>
                  </a:tcPr>
                </a:tc>
                <a:tc>
                  <a:txBody>
                    <a:bodyPr/>
                    <a:lstStyle/>
                    <a:p>
                      <a:pPr lvl="0" algn="l">
                        <a:buNone/>
                      </a:pPr>
                      <a:r>
                        <a:rPr lang="en-US" dirty="0"/>
                        <a:t>The paper analyzes the performance of a 6T SRAM cell at different CMOS technology nodes </a:t>
                      </a:r>
                    </a:p>
                    <a:p>
                      <a:pPr lvl="0" algn="l">
                        <a:buNone/>
                      </a:pPr>
                      <a:r>
                        <a:rPr lang="en-US" dirty="0"/>
                        <a:t>by evaluating parameters such as power consumption, delay, and Static Noise Margin (SNM).</a:t>
                      </a:r>
                      <a:endParaRPr lang="en-US" dirty="0">
                        <a:sym typeface="Calibri"/>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2DEEF"/>
                    </a:solidFill>
                  </a:tcPr>
                </a:tc>
                <a:tc>
                  <a:txBody>
                    <a:bodyPr/>
                    <a:lstStyle/>
                    <a:p>
                      <a:pPr lvl="0" algn="l">
                        <a:lnSpc>
                          <a:spcPct val="100000"/>
                        </a:lnSpc>
                        <a:spcBef>
                          <a:spcPts val="0"/>
                        </a:spcBef>
                        <a:spcAft>
                          <a:spcPts val="0"/>
                        </a:spcAft>
                        <a:buNone/>
                      </a:pPr>
                      <a:r>
                        <a:rPr lang="en-US" dirty="0"/>
                        <a:t>The study shows that scaling down the technology node improves SRAM performance, especially in terms of speed, stability, and reduced delay.</a:t>
                      </a:r>
                      <a:endParaRPr lang="en-US" dirty="0">
                        <a:sym typeface="Calibri"/>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2DEEF"/>
                    </a:solidFill>
                  </a:tcPr>
                </a:tc>
                <a:tc>
                  <a:txBody>
                    <a:bodyPr/>
                    <a:lstStyle/>
                    <a:p>
                      <a:pPr lvl="0" algn="l">
                        <a:buNone/>
                      </a:pPr>
                      <a:r>
                        <a:rPr lang="en-US" dirty="0"/>
                        <a:t>Improved speed and stability, reduced delay, better SRAM efficiency at smaller technology nodes.</a:t>
                      </a:r>
                      <a:endParaRPr lang="en-US" dirty="0">
                        <a:sym typeface="Calibri"/>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2DEEF"/>
                    </a:solidFill>
                  </a:tcPr>
                </a:tc>
                <a:tc>
                  <a:txBody>
                    <a:bodyPr/>
                    <a:lstStyle/>
                    <a:p>
                      <a:pPr lvl="0">
                        <a:buNone/>
                      </a:pPr>
                      <a:r>
                        <a:rPr lang="en-US" dirty="0"/>
                        <a:t>Increased fabrication complexity and leakage issues in lower technology nodes.</a:t>
                      </a:r>
                      <a:endParaRPr lang="en-US" dirty="0">
                        <a:sym typeface="Calibri"/>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2DEEF"/>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7784148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15A30EC-4B2D-BEED-282E-21442C7D556E}"/>
              </a:ext>
            </a:extLst>
          </p:cNvPr>
          <p:cNvSpPr>
            <a:spLocks noGrp="1"/>
          </p:cNvSpPr>
          <p:nvPr>
            <p:ph type="dt" sz="half" idx="10"/>
          </p:nvPr>
        </p:nvSpPr>
        <p:spPr/>
        <p:txBody>
          <a:bodyPr/>
          <a:lstStyle/>
          <a:p>
            <a:pPr>
              <a:defRPr/>
            </a:pPr>
            <a:fld id="{9FCC6B52-9971-410F-B970-172C9ABC021C}" type="datetime8">
              <a:rPr lang="en-IN" smtClean="0"/>
              <a:t>06-05-2026 14:16</a:t>
            </a:fld>
            <a:endParaRPr lang="en-IN"/>
          </a:p>
        </p:txBody>
      </p:sp>
      <p:sp>
        <p:nvSpPr>
          <p:cNvPr id="5" name="Slide Number Placeholder 4">
            <a:extLst>
              <a:ext uri="{FF2B5EF4-FFF2-40B4-BE49-F238E27FC236}">
                <a16:creationId xmlns:a16="http://schemas.microsoft.com/office/drawing/2014/main" id="{59199470-E136-40F2-AA54-C0150CED7A8A}"/>
              </a:ext>
            </a:extLst>
          </p:cNvPr>
          <p:cNvSpPr>
            <a:spLocks noGrp="1"/>
          </p:cNvSpPr>
          <p:nvPr>
            <p:ph type="sldNum" sz="quarter" idx="12"/>
          </p:nvPr>
        </p:nvSpPr>
        <p:spPr/>
        <p:txBody>
          <a:bodyPr/>
          <a:lstStyle/>
          <a:p>
            <a:pPr>
              <a:defRPr/>
            </a:pPr>
            <a:fld id="{AAFC9A1D-E715-4FF0-BABF-4724B2795EE9}" type="slidenum">
              <a:rPr lang="en-IN" smtClean="0"/>
              <a:pPr>
                <a:defRPr/>
              </a:pPr>
              <a:t>6</a:t>
            </a:fld>
            <a:endParaRPr lang="en-IN"/>
          </a:p>
        </p:txBody>
      </p:sp>
      <p:graphicFrame>
        <p:nvGraphicFramePr>
          <p:cNvPr id="2" name="Google Shape;123;p17">
            <a:extLst>
              <a:ext uri="{FF2B5EF4-FFF2-40B4-BE49-F238E27FC236}">
                <a16:creationId xmlns:a16="http://schemas.microsoft.com/office/drawing/2014/main" id="{4069ECBE-A8DE-09FB-C980-9CDED2CE5CC1}"/>
              </a:ext>
            </a:extLst>
          </p:cNvPr>
          <p:cNvGraphicFramePr>
            <a:graphicFrameLocks noGrp="1"/>
          </p:cNvGraphicFramePr>
          <p:nvPr>
            <p:ph idx="1"/>
            <p:extLst>
              <p:ext uri="{D42A27DB-BD31-4B8C-83A1-F6EECF244321}">
                <p14:modId xmlns:p14="http://schemas.microsoft.com/office/powerpoint/2010/main" val="2365234804"/>
              </p:ext>
            </p:extLst>
          </p:nvPr>
        </p:nvGraphicFramePr>
        <p:xfrm>
          <a:off x="710381" y="1396745"/>
          <a:ext cx="11137850" cy="4064509"/>
        </p:xfrm>
        <a:graphic>
          <a:graphicData uri="http://schemas.openxmlformats.org/drawingml/2006/table">
            <a:tbl>
              <a:tblPr>
                <a:noFill/>
              </a:tblPr>
              <a:tblGrid>
                <a:gridCol w="2227250">
                  <a:extLst>
                    <a:ext uri="{9D8B030D-6E8A-4147-A177-3AD203B41FA5}">
                      <a16:colId xmlns:a16="http://schemas.microsoft.com/office/drawing/2014/main" val="20000"/>
                    </a:ext>
                  </a:extLst>
                </a:gridCol>
                <a:gridCol w="2227250">
                  <a:extLst>
                    <a:ext uri="{9D8B030D-6E8A-4147-A177-3AD203B41FA5}">
                      <a16:colId xmlns:a16="http://schemas.microsoft.com/office/drawing/2014/main" val="20001"/>
                    </a:ext>
                  </a:extLst>
                </a:gridCol>
                <a:gridCol w="2228850">
                  <a:extLst>
                    <a:ext uri="{9D8B030D-6E8A-4147-A177-3AD203B41FA5}">
                      <a16:colId xmlns:a16="http://schemas.microsoft.com/office/drawing/2014/main" val="20002"/>
                    </a:ext>
                  </a:extLst>
                </a:gridCol>
                <a:gridCol w="2227250">
                  <a:extLst>
                    <a:ext uri="{9D8B030D-6E8A-4147-A177-3AD203B41FA5}">
                      <a16:colId xmlns:a16="http://schemas.microsoft.com/office/drawing/2014/main" val="20003"/>
                    </a:ext>
                  </a:extLst>
                </a:gridCol>
                <a:gridCol w="2227250">
                  <a:extLst>
                    <a:ext uri="{9D8B030D-6E8A-4147-A177-3AD203B41FA5}">
                      <a16:colId xmlns:a16="http://schemas.microsoft.com/office/drawing/2014/main" val="20004"/>
                    </a:ext>
                  </a:extLst>
                </a:gridCol>
              </a:tblGrid>
              <a:tr h="787531">
                <a:tc>
                  <a:txBody>
                    <a:bodyPr/>
                    <a:lstStyle/>
                    <a:p>
                      <a:pPr marL="0" marR="0" lvl="0" indent="0" algn="l" rtl="0">
                        <a:lnSpc>
                          <a:spcPct val="100000"/>
                        </a:lnSpc>
                        <a:spcBef>
                          <a:spcPts val="0"/>
                        </a:spcBef>
                        <a:spcAft>
                          <a:spcPts val="0"/>
                        </a:spcAft>
                        <a:buClr>
                          <a:srgbClr val="FFFFFF"/>
                        </a:buClr>
                        <a:buSzPts val="1800"/>
                        <a:buFont typeface="Calibri"/>
                        <a:buNone/>
                      </a:pPr>
                      <a:r>
                        <a:rPr lang="en-US" sz="1800" b="1" i="0" u="none" strike="noStrike" cap="none">
                          <a:solidFill>
                            <a:srgbClr val="FFFFFF"/>
                          </a:solidFill>
                          <a:latin typeface="Calibri"/>
                          <a:ea typeface="Calibri"/>
                          <a:cs typeface="Calibri"/>
                          <a:sym typeface="Calibri"/>
                        </a:rPr>
                        <a:t>Authors,</a:t>
                      </a:r>
                      <a:endParaRPr/>
                    </a:p>
                    <a:p>
                      <a:pPr marL="0" marR="0" lvl="0" indent="0" algn="l" rtl="0">
                        <a:lnSpc>
                          <a:spcPct val="100000"/>
                        </a:lnSpc>
                        <a:spcBef>
                          <a:spcPts val="0"/>
                        </a:spcBef>
                        <a:spcAft>
                          <a:spcPts val="0"/>
                        </a:spcAft>
                        <a:buClr>
                          <a:srgbClr val="FFFFFF"/>
                        </a:buClr>
                        <a:buSzPts val="1800"/>
                        <a:buFont typeface="Calibri"/>
                        <a:buNone/>
                      </a:pPr>
                      <a:r>
                        <a:rPr lang="en-US" sz="1800" b="1" i="0" u="none" strike="noStrike" cap="none">
                          <a:solidFill>
                            <a:srgbClr val="FFFFFF"/>
                          </a:solidFill>
                          <a:latin typeface="Calibri"/>
                          <a:ea typeface="Calibri"/>
                          <a:cs typeface="Calibri"/>
                          <a:sym typeface="Calibri"/>
                        </a:rPr>
                        <a:t>Year of publication, type of journal</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l" rtl="0">
                        <a:lnSpc>
                          <a:spcPct val="100000"/>
                        </a:lnSpc>
                        <a:spcBef>
                          <a:spcPts val="0"/>
                        </a:spcBef>
                        <a:spcAft>
                          <a:spcPts val="0"/>
                        </a:spcAft>
                        <a:buClr>
                          <a:srgbClr val="FFFFFF"/>
                        </a:buClr>
                        <a:buSzPts val="1800"/>
                        <a:buFont typeface="Calibri"/>
                        <a:buNone/>
                      </a:pPr>
                      <a:r>
                        <a:rPr lang="en-US" sz="1800" b="1" i="0" u="none" strike="noStrike" cap="none">
                          <a:solidFill>
                            <a:srgbClr val="FFFFFF"/>
                          </a:solidFill>
                          <a:latin typeface="Calibri"/>
                          <a:ea typeface="Calibri"/>
                          <a:cs typeface="Calibri"/>
                          <a:sym typeface="Calibri"/>
                        </a:rPr>
                        <a:t>Methodology</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l" rtl="0">
                        <a:lnSpc>
                          <a:spcPct val="100000"/>
                        </a:lnSpc>
                        <a:spcBef>
                          <a:spcPts val="0"/>
                        </a:spcBef>
                        <a:spcAft>
                          <a:spcPts val="0"/>
                        </a:spcAft>
                        <a:buClr>
                          <a:srgbClr val="FFFFFF"/>
                        </a:buClr>
                        <a:buSzPts val="1800"/>
                        <a:buFont typeface="Calibri"/>
                        <a:buNone/>
                      </a:pPr>
                      <a:r>
                        <a:rPr lang="en-US" sz="1800" b="1" i="0" u="none" strike="noStrike" cap="none">
                          <a:solidFill>
                            <a:srgbClr val="FFFFFF"/>
                          </a:solidFill>
                          <a:latin typeface="Calibri"/>
                          <a:ea typeface="Calibri"/>
                          <a:cs typeface="Calibri"/>
                          <a:sym typeface="Calibri"/>
                        </a:rPr>
                        <a:t>Results obtained</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l" rtl="0">
                        <a:lnSpc>
                          <a:spcPct val="100000"/>
                        </a:lnSpc>
                        <a:spcBef>
                          <a:spcPts val="0"/>
                        </a:spcBef>
                        <a:spcAft>
                          <a:spcPts val="0"/>
                        </a:spcAft>
                        <a:buClr>
                          <a:srgbClr val="FFFFFF"/>
                        </a:buClr>
                        <a:buSzPts val="1800"/>
                        <a:buFont typeface="Calibri"/>
                        <a:buNone/>
                      </a:pPr>
                      <a:r>
                        <a:rPr lang="en-US" sz="1800" b="1" i="0" u="none" strike="noStrike" cap="none">
                          <a:solidFill>
                            <a:srgbClr val="FFFFFF"/>
                          </a:solidFill>
                          <a:latin typeface="Calibri"/>
                          <a:ea typeface="Calibri"/>
                          <a:cs typeface="Calibri"/>
                          <a:sym typeface="Calibri"/>
                        </a:rPr>
                        <a:t>Advantages</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l" rtl="0">
                        <a:lnSpc>
                          <a:spcPct val="100000"/>
                        </a:lnSpc>
                        <a:spcBef>
                          <a:spcPts val="0"/>
                        </a:spcBef>
                        <a:spcAft>
                          <a:spcPts val="0"/>
                        </a:spcAft>
                        <a:buClr>
                          <a:srgbClr val="FFFFFF"/>
                        </a:buClr>
                        <a:buSzPts val="1800"/>
                        <a:buFont typeface="Calibri"/>
                        <a:buNone/>
                      </a:pPr>
                      <a:r>
                        <a:rPr lang="en-US" sz="1800" b="1" i="0" u="none" strike="noStrike" cap="none">
                          <a:solidFill>
                            <a:srgbClr val="FFFFFF"/>
                          </a:solidFill>
                          <a:latin typeface="Calibri"/>
                          <a:ea typeface="Calibri"/>
                          <a:cs typeface="Calibri"/>
                          <a:sym typeface="Calibri"/>
                        </a:rPr>
                        <a:t>Disadvantages</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3150099">
                <a:tc>
                  <a:txBody>
                    <a:bodyPr/>
                    <a:lstStyle/>
                    <a:p>
                      <a:pPr marL="0" marR="0" lvl="0" indent="0" algn="l" rtl="0">
                        <a:spcBef>
                          <a:spcPts val="0"/>
                        </a:spcBef>
                        <a:spcAft>
                          <a:spcPts val="0"/>
                        </a:spcAft>
                        <a:buNone/>
                      </a:pPr>
                      <a:r>
                        <a:rPr lang="en-US" b="1" dirty="0">
                          <a:solidFill>
                            <a:srgbClr val="FF0000"/>
                          </a:solidFill>
                        </a:rPr>
                        <a:t>Paper 2</a:t>
                      </a:r>
                      <a:r>
                        <a:rPr lang="en-US" dirty="0">
                          <a:solidFill>
                            <a:srgbClr val="FF0000"/>
                          </a:solidFill>
                        </a:rPr>
                        <a:t> </a:t>
                      </a:r>
                      <a:br>
                        <a:rPr lang="en-US" dirty="0"/>
                      </a:br>
                      <a:r>
                        <a:rPr lang="en-US" b="1" dirty="0"/>
                        <a:t>Performance Evaluation of 6T SRAM in Sub-3nm CFET Technology</a:t>
                      </a:r>
                      <a:r>
                        <a:rPr lang="en-US" dirty="0"/>
                        <a:t> </a:t>
                      </a:r>
                      <a:br>
                        <a:rPr lang="en-US" dirty="0"/>
                      </a:br>
                      <a:r>
                        <a:rPr lang="en-US" i="1" dirty="0"/>
                        <a:t>Anirban Kar et al. (2025)</a:t>
                      </a:r>
                      <a:endParaRPr lang="en-IN" sz="18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a:p>
                      <a:pPr marL="0" marR="0" lvl="0" indent="0" algn="l" rtl="0">
                        <a:spcBef>
                          <a:spcPts val="0"/>
                        </a:spcBef>
                        <a:spcAft>
                          <a:spcPts val="0"/>
                        </a:spcAft>
                        <a:buNone/>
                      </a:pPr>
                      <a:endParaRPr sz="18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2DEEF"/>
                    </a:solidFill>
                  </a:tcPr>
                </a:tc>
                <a:tc>
                  <a:txBody>
                    <a:bodyPr/>
                    <a:lstStyle/>
                    <a:p>
                      <a:pPr lvl="0" algn="l">
                        <a:buNone/>
                      </a:pPr>
                      <a:r>
                        <a:rPr lang="en-US" dirty="0"/>
                        <a:t>The proposed work evaluates a 6T SRAM cell using advanced Sub-3nm CFET technology to improve memory density, scalability, and performance.</a:t>
                      </a:r>
                      <a:endParaRPr lang="en-US" dirty="0">
                        <a:sym typeface="Calibri"/>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2DEEF"/>
                    </a:solidFill>
                  </a:tcPr>
                </a:tc>
                <a:tc>
                  <a:txBody>
                    <a:bodyPr/>
                    <a:lstStyle/>
                    <a:p>
                      <a:pPr marL="0" marR="0" lvl="0" indent="0" algn="l">
                        <a:spcBef>
                          <a:spcPts val="0"/>
                        </a:spcBef>
                        <a:spcAft>
                          <a:spcPts val="0"/>
                        </a:spcAft>
                        <a:buFont typeface="Arial" panose="020B0604020202020204" pitchFamily="34" charset="0"/>
                        <a:buNone/>
                      </a:pPr>
                      <a:r>
                        <a:rPr lang="en-US" dirty="0"/>
                        <a:t>The results demonstrate that CFET technology provides better scalability, higher efficiency, and improved memory density compared to traditional CMOS technology.</a:t>
                      </a:r>
                      <a:endParaRPr lang="en-US" sz="1800" dirty="0">
                        <a:solidFill>
                          <a:schemeClr val="dk1"/>
                        </a:solidFill>
                        <a:latin typeface="Calibri"/>
                        <a:ea typeface="Calibri"/>
                        <a:cs typeface="Calibri"/>
                        <a:sym typeface="Calibri"/>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2DEEF"/>
                    </a:solidFill>
                  </a:tcPr>
                </a:tc>
                <a:tc>
                  <a:txBody>
                    <a:bodyPr/>
                    <a:lstStyle/>
                    <a:p>
                      <a:pPr lvl="0">
                        <a:buNone/>
                      </a:pPr>
                      <a:r>
                        <a:rPr lang="en-US" dirty="0"/>
                        <a:t>Higher scalability, better efficiency, improved memory density and performance.</a:t>
                      </a:r>
                      <a:endParaRPr lang="en-US" dirty="0">
                        <a:sym typeface="Calibri"/>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2DEEF"/>
                    </a:solidFill>
                  </a:tcPr>
                </a:tc>
                <a:tc>
                  <a:txBody>
                    <a:bodyPr/>
                    <a:lstStyle/>
                    <a:p>
                      <a:pPr lvl="0">
                        <a:buNone/>
                      </a:pPr>
                      <a:r>
                        <a:rPr lang="en-US" dirty="0"/>
                        <a:t>Advanced fabrication complexity and high implementation cost.</a:t>
                      </a:r>
                      <a:endParaRPr lang="en-US" dirty="0">
                        <a:sym typeface="Calibri"/>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2DEEF"/>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2661652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C30A53-93D3-277C-2530-F024B5866C3F}"/>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6A6FFA76-5F7D-D3CA-B48B-652960855848}"/>
              </a:ext>
            </a:extLst>
          </p:cNvPr>
          <p:cNvSpPr>
            <a:spLocks noGrp="1"/>
          </p:cNvSpPr>
          <p:nvPr>
            <p:ph type="dt" sz="half" idx="10"/>
          </p:nvPr>
        </p:nvSpPr>
        <p:spPr/>
        <p:txBody>
          <a:bodyPr/>
          <a:lstStyle/>
          <a:p>
            <a:pPr>
              <a:defRPr/>
            </a:pPr>
            <a:fld id="{9FCC6B52-9971-410F-B970-172C9ABC021C}" type="datetime8">
              <a:rPr lang="en-IN" smtClean="0"/>
              <a:t>06-05-2026 14:20</a:t>
            </a:fld>
            <a:endParaRPr lang="en-IN"/>
          </a:p>
        </p:txBody>
      </p:sp>
      <p:sp>
        <p:nvSpPr>
          <p:cNvPr id="5" name="Slide Number Placeholder 4">
            <a:extLst>
              <a:ext uri="{FF2B5EF4-FFF2-40B4-BE49-F238E27FC236}">
                <a16:creationId xmlns:a16="http://schemas.microsoft.com/office/drawing/2014/main" id="{18951BD6-F82A-EBF7-E495-3958092C0F61}"/>
              </a:ext>
            </a:extLst>
          </p:cNvPr>
          <p:cNvSpPr>
            <a:spLocks noGrp="1"/>
          </p:cNvSpPr>
          <p:nvPr>
            <p:ph type="sldNum" sz="quarter" idx="12"/>
          </p:nvPr>
        </p:nvSpPr>
        <p:spPr/>
        <p:txBody>
          <a:bodyPr/>
          <a:lstStyle/>
          <a:p>
            <a:pPr>
              <a:defRPr/>
            </a:pPr>
            <a:fld id="{AAFC9A1D-E715-4FF0-BABF-4724B2795EE9}" type="slidenum">
              <a:rPr lang="en-IN" smtClean="0"/>
              <a:pPr>
                <a:defRPr/>
              </a:pPr>
              <a:t>7</a:t>
            </a:fld>
            <a:endParaRPr lang="en-IN"/>
          </a:p>
        </p:txBody>
      </p:sp>
      <p:graphicFrame>
        <p:nvGraphicFramePr>
          <p:cNvPr id="2" name="Google Shape;123;p17">
            <a:extLst>
              <a:ext uri="{FF2B5EF4-FFF2-40B4-BE49-F238E27FC236}">
                <a16:creationId xmlns:a16="http://schemas.microsoft.com/office/drawing/2014/main" id="{3575653E-BB42-E66B-5CD2-A253B197C2E2}"/>
              </a:ext>
            </a:extLst>
          </p:cNvPr>
          <p:cNvGraphicFramePr>
            <a:graphicFrameLocks noGrp="1"/>
          </p:cNvGraphicFramePr>
          <p:nvPr>
            <p:ph idx="1"/>
            <p:extLst>
              <p:ext uri="{D42A27DB-BD31-4B8C-83A1-F6EECF244321}">
                <p14:modId xmlns:p14="http://schemas.microsoft.com/office/powerpoint/2010/main" val="3874431755"/>
              </p:ext>
            </p:extLst>
          </p:nvPr>
        </p:nvGraphicFramePr>
        <p:xfrm>
          <a:off x="429643" y="1543050"/>
          <a:ext cx="11332713" cy="3571875"/>
        </p:xfrm>
        <a:graphic>
          <a:graphicData uri="http://schemas.openxmlformats.org/drawingml/2006/table">
            <a:tbl>
              <a:tblPr>
                <a:noFill/>
              </a:tblPr>
              <a:tblGrid>
                <a:gridCol w="3588442">
                  <a:extLst>
                    <a:ext uri="{9D8B030D-6E8A-4147-A177-3AD203B41FA5}">
                      <a16:colId xmlns:a16="http://schemas.microsoft.com/office/drawing/2014/main" val="20000"/>
                    </a:ext>
                  </a:extLst>
                </a:gridCol>
                <a:gridCol w="2518120">
                  <a:extLst>
                    <a:ext uri="{9D8B030D-6E8A-4147-A177-3AD203B41FA5}">
                      <a16:colId xmlns:a16="http://schemas.microsoft.com/office/drawing/2014/main" val="20001"/>
                    </a:ext>
                  </a:extLst>
                </a:gridCol>
                <a:gridCol w="1742887">
                  <a:extLst>
                    <a:ext uri="{9D8B030D-6E8A-4147-A177-3AD203B41FA5}">
                      <a16:colId xmlns:a16="http://schemas.microsoft.com/office/drawing/2014/main" val="20002"/>
                    </a:ext>
                  </a:extLst>
                </a:gridCol>
                <a:gridCol w="1741632">
                  <a:extLst>
                    <a:ext uri="{9D8B030D-6E8A-4147-A177-3AD203B41FA5}">
                      <a16:colId xmlns:a16="http://schemas.microsoft.com/office/drawing/2014/main" val="20003"/>
                    </a:ext>
                  </a:extLst>
                </a:gridCol>
                <a:gridCol w="1741632">
                  <a:extLst>
                    <a:ext uri="{9D8B030D-6E8A-4147-A177-3AD203B41FA5}">
                      <a16:colId xmlns:a16="http://schemas.microsoft.com/office/drawing/2014/main" val="20004"/>
                    </a:ext>
                  </a:extLst>
                </a:gridCol>
              </a:tblGrid>
              <a:tr h="619337">
                <a:tc>
                  <a:txBody>
                    <a:bodyPr/>
                    <a:lstStyle/>
                    <a:p>
                      <a:pPr marL="0" marR="0" lvl="0" indent="0" algn="l" rtl="0">
                        <a:lnSpc>
                          <a:spcPct val="100000"/>
                        </a:lnSpc>
                        <a:spcBef>
                          <a:spcPts val="0"/>
                        </a:spcBef>
                        <a:spcAft>
                          <a:spcPts val="0"/>
                        </a:spcAft>
                        <a:buClr>
                          <a:srgbClr val="FFFFFF"/>
                        </a:buClr>
                        <a:buSzPts val="1800"/>
                        <a:buFont typeface="Calibri"/>
                        <a:buNone/>
                      </a:pPr>
                      <a:r>
                        <a:rPr lang="en-US" sz="1800" b="1" i="0" u="none" strike="noStrike" cap="none" dirty="0">
                          <a:solidFill>
                            <a:srgbClr val="FFFFFF"/>
                          </a:solidFill>
                          <a:latin typeface="Calibri"/>
                          <a:ea typeface="Calibri"/>
                          <a:cs typeface="Calibri"/>
                          <a:sym typeface="Calibri"/>
                        </a:rPr>
                        <a:t>Authors,</a:t>
                      </a:r>
                      <a:endParaRPr dirty="0"/>
                    </a:p>
                    <a:p>
                      <a:pPr marL="0" marR="0" lvl="0" indent="0" algn="l" rtl="0">
                        <a:lnSpc>
                          <a:spcPct val="100000"/>
                        </a:lnSpc>
                        <a:spcBef>
                          <a:spcPts val="0"/>
                        </a:spcBef>
                        <a:spcAft>
                          <a:spcPts val="0"/>
                        </a:spcAft>
                        <a:buClr>
                          <a:srgbClr val="FFFFFF"/>
                        </a:buClr>
                        <a:buSzPts val="1800"/>
                        <a:buFont typeface="Calibri"/>
                        <a:buNone/>
                      </a:pPr>
                      <a:r>
                        <a:rPr lang="en-US" sz="1800" b="1" i="0" u="none" strike="noStrike" cap="none" dirty="0">
                          <a:solidFill>
                            <a:srgbClr val="FFFFFF"/>
                          </a:solidFill>
                          <a:latin typeface="Calibri"/>
                          <a:ea typeface="Calibri"/>
                          <a:cs typeface="Calibri"/>
                          <a:sym typeface="Calibri"/>
                        </a:rPr>
                        <a:t>Year of publication, type of journal</a:t>
                      </a:r>
                      <a:endParaRPr dirty="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l" rtl="0">
                        <a:lnSpc>
                          <a:spcPct val="100000"/>
                        </a:lnSpc>
                        <a:spcBef>
                          <a:spcPts val="0"/>
                        </a:spcBef>
                        <a:spcAft>
                          <a:spcPts val="0"/>
                        </a:spcAft>
                        <a:buClr>
                          <a:srgbClr val="FFFFFF"/>
                        </a:buClr>
                        <a:buSzPts val="1800"/>
                        <a:buFont typeface="Calibri"/>
                        <a:buNone/>
                      </a:pPr>
                      <a:r>
                        <a:rPr lang="en-US" sz="1800" b="1" i="0" u="none" strike="noStrike" cap="none">
                          <a:solidFill>
                            <a:srgbClr val="FFFFFF"/>
                          </a:solidFill>
                          <a:latin typeface="Calibri"/>
                          <a:ea typeface="Calibri"/>
                          <a:cs typeface="Calibri"/>
                          <a:sym typeface="Calibri"/>
                        </a:rPr>
                        <a:t>Methodology</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l" rtl="0">
                        <a:lnSpc>
                          <a:spcPct val="100000"/>
                        </a:lnSpc>
                        <a:spcBef>
                          <a:spcPts val="0"/>
                        </a:spcBef>
                        <a:spcAft>
                          <a:spcPts val="0"/>
                        </a:spcAft>
                        <a:buClr>
                          <a:srgbClr val="FFFFFF"/>
                        </a:buClr>
                        <a:buSzPts val="1800"/>
                        <a:buFont typeface="Calibri"/>
                        <a:buNone/>
                      </a:pPr>
                      <a:r>
                        <a:rPr lang="en-US" sz="1800" b="1" i="0" u="none" strike="noStrike" cap="none">
                          <a:solidFill>
                            <a:srgbClr val="FFFFFF"/>
                          </a:solidFill>
                          <a:latin typeface="Calibri"/>
                          <a:ea typeface="Calibri"/>
                          <a:cs typeface="Calibri"/>
                          <a:sym typeface="Calibri"/>
                        </a:rPr>
                        <a:t>Results obtained</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l" rtl="0">
                        <a:lnSpc>
                          <a:spcPct val="100000"/>
                        </a:lnSpc>
                        <a:spcBef>
                          <a:spcPts val="0"/>
                        </a:spcBef>
                        <a:spcAft>
                          <a:spcPts val="0"/>
                        </a:spcAft>
                        <a:buClr>
                          <a:srgbClr val="FFFFFF"/>
                        </a:buClr>
                        <a:buSzPts val="1800"/>
                        <a:buFont typeface="Calibri"/>
                        <a:buNone/>
                      </a:pPr>
                      <a:r>
                        <a:rPr lang="en-US" sz="1800" b="1" i="0" u="none" strike="noStrike" cap="none">
                          <a:solidFill>
                            <a:srgbClr val="FFFFFF"/>
                          </a:solidFill>
                          <a:latin typeface="Calibri"/>
                          <a:ea typeface="Calibri"/>
                          <a:cs typeface="Calibri"/>
                          <a:sym typeface="Calibri"/>
                        </a:rPr>
                        <a:t>Advantages</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l" rtl="0">
                        <a:lnSpc>
                          <a:spcPct val="100000"/>
                        </a:lnSpc>
                        <a:spcBef>
                          <a:spcPts val="0"/>
                        </a:spcBef>
                        <a:spcAft>
                          <a:spcPts val="0"/>
                        </a:spcAft>
                        <a:buClr>
                          <a:srgbClr val="FFFFFF"/>
                        </a:buClr>
                        <a:buSzPts val="1800"/>
                        <a:buFont typeface="Calibri"/>
                        <a:buNone/>
                      </a:pPr>
                      <a:r>
                        <a:rPr lang="en-US" sz="1800" b="1" i="0" u="none" strike="noStrike" cap="none">
                          <a:solidFill>
                            <a:srgbClr val="FFFFFF"/>
                          </a:solidFill>
                          <a:latin typeface="Calibri"/>
                          <a:ea typeface="Calibri"/>
                          <a:cs typeface="Calibri"/>
                          <a:sym typeface="Calibri"/>
                        </a:rPr>
                        <a:t>Disadvantages</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2931785">
                <a:tc>
                  <a:txBody>
                    <a:bodyPr/>
                    <a:lstStyle/>
                    <a:p>
                      <a:pPr lvl="0" algn="l">
                        <a:lnSpc>
                          <a:spcPct val="100000"/>
                        </a:lnSpc>
                        <a:spcBef>
                          <a:spcPts val="0"/>
                        </a:spcBef>
                        <a:spcAft>
                          <a:spcPts val="0"/>
                        </a:spcAft>
                        <a:buNone/>
                      </a:pPr>
                      <a:r>
                        <a:rPr lang="en-US" b="1" dirty="0">
                          <a:solidFill>
                            <a:srgbClr val="FF0000"/>
                          </a:solidFill>
                        </a:rPr>
                        <a:t>Paper 3</a:t>
                      </a:r>
                      <a:r>
                        <a:rPr lang="en-US" dirty="0">
                          <a:solidFill>
                            <a:srgbClr val="FF0000"/>
                          </a:solidFill>
                        </a:rPr>
                        <a:t> </a:t>
                      </a:r>
                      <a:br>
                        <a:rPr lang="en-US" dirty="0"/>
                      </a:br>
                      <a:r>
                        <a:rPr lang="en-US" b="1" dirty="0"/>
                        <a:t>Parametric Inspection of 6T SRAM Cell</a:t>
                      </a:r>
                      <a:r>
                        <a:rPr lang="en-US" dirty="0"/>
                        <a:t> </a:t>
                      </a:r>
                      <a:br>
                        <a:rPr lang="en-US" dirty="0"/>
                      </a:br>
                      <a:r>
                        <a:rPr lang="en-US" i="1" dirty="0"/>
                        <a:t>Prince Kumar Pandey et al. (2021)</a:t>
                      </a:r>
                      <a:endParaRPr lang="en-US" dirty="0"/>
                    </a:p>
                    <a:p>
                      <a:pPr lvl="0" algn="l">
                        <a:lnSpc>
                          <a:spcPct val="100000"/>
                        </a:lnSpc>
                        <a:spcBef>
                          <a:spcPts val="0"/>
                        </a:spcBef>
                        <a:spcAft>
                          <a:spcPts val="0"/>
                        </a:spcAft>
                        <a:buNone/>
                      </a:pPr>
                      <a:endParaRPr lang="en-US" dirty="0"/>
                    </a:p>
                    <a:p>
                      <a:pPr marL="0" marR="0" lvl="0" indent="0" algn="l">
                        <a:spcBef>
                          <a:spcPts val="0"/>
                        </a:spcBef>
                        <a:spcAft>
                          <a:spcPts val="0"/>
                        </a:spcAft>
                        <a:buNone/>
                      </a:pPr>
                      <a:endParaRPr lang="en-IN" dirty="0">
                        <a:sym typeface="Calibri"/>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2DEEF"/>
                    </a:solidFill>
                  </a:tcPr>
                </a:tc>
                <a:tc>
                  <a:txBody>
                    <a:bodyPr/>
                    <a:lstStyle/>
                    <a:p>
                      <a:pPr lvl="0" algn="l">
                        <a:lnSpc>
                          <a:spcPct val="100000"/>
                        </a:lnSpc>
                        <a:spcBef>
                          <a:spcPts val="0"/>
                        </a:spcBef>
                        <a:spcAft>
                          <a:spcPts val="0"/>
                        </a:spcAft>
                        <a:buNone/>
                      </a:pPr>
                      <a:r>
                        <a:rPr lang="en-US" dirty="0"/>
                        <a:t>This paper performs a parametric analysis of the 6T SRAM cell by studying SNM, power consumption, and delay characteristics.</a:t>
                      </a:r>
                      <a:endParaRPr lang="en-US" sz="1800" b="0" i="0" u="none" strike="noStrike" noProof="0" dirty="0">
                        <a:latin typeface="Calibri"/>
                        <a:ea typeface="Calibri"/>
                        <a:cs typeface="Calibri"/>
                      </a:endParaRPr>
                    </a:p>
                    <a:p>
                      <a:pPr lvl="0" algn="l">
                        <a:lnSpc>
                          <a:spcPct val="100000"/>
                        </a:lnSpc>
                        <a:spcBef>
                          <a:spcPts val="0"/>
                        </a:spcBef>
                        <a:spcAft>
                          <a:spcPts val="0"/>
                        </a:spcAft>
                        <a:buNone/>
                      </a:pPr>
                      <a:endParaRPr lang="en-US" dirty="0"/>
                    </a:p>
                    <a:p>
                      <a:pPr lvl="0">
                        <a:buNone/>
                      </a:pPr>
                      <a:endParaRPr lang="en-US" dirty="0"/>
                    </a:p>
                    <a:p>
                      <a:pPr marL="0" marR="0" lvl="0" indent="0" algn="l" rtl="0">
                        <a:spcBef>
                          <a:spcPts val="0"/>
                        </a:spcBef>
                        <a:spcAft>
                          <a:spcPts val="0"/>
                        </a:spcAft>
                        <a:buNone/>
                      </a:pPr>
                      <a:endParaRPr sz="18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2DEEF"/>
                    </a:solidFill>
                  </a:tcPr>
                </a:tc>
                <a:tc>
                  <a:txBody>
                    <a:bodyPr/>
                    <a:lstStyle/>
                    <a:p>
                      <a:pPr lvl="0" algn="l">
                        <a:buNone/>
                      </a:pPr>
                      <a:r>
                        <a:rPr lang="en-US" dirty="0"/>
                        <a:t>The study identifies important factors affecting SRAM stability and overall performance.</a:t>
                      </a:r>
                      <a:endParaRPr lang="en-US" sz="1800" b="0" i="0" u="none" strike="noStrike" noProof="0" dirty="0">
                        <a:sym typeface="Calibri"/>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2DEEF"/>
                    </a:solidFill>
                  </a:tcPr>
                </a:tc>
                <a:tc>
                  <a:txBody>
                    <a:bodyPr/>
                    <a:lstStyle/>
                    <a:p>
                      <a:pPr lvl="0">
                        <a:buNone/>
                      </a:pPr>
                      <a:r>
                        <a:rPr lang="en-US" dirty="0"/>
                        <a:t>Better understanding of SRAM parameters and stability improvement techniques.</a:t>
                      </a:r>
                      <a:endParaRPr lang="en-US" dirty="0">
                        <a:sym typeface="Calibri"/>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2DEEF"/>
                    </a:solidFill>
                  </a:tcPr>
                </a:tc>
                <a:tc>
                  <a:txBody>
                    <a:bodyPr/>
                    <a:lstStyle/>
                    <a:p>
                      <a:pPr lvl="0">
                        <a:buNone/>
                      </a:pPr>
                      <a:r>
                        <a:rPr lang="en-US" dirty="0"/>
                        <a:t>Performance variations due to process and environmental changes.</a:t>
                      </a:r>
                      <a:endParaRPr lang="en-US" dirty="0">
                        <a:sym typeface="Calibri"/>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2DEEF"/>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8291347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0DA005-AE95-1762-8251-8B6CA4303BA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B4D7A8E-D3F0-2C7F-D473-543C544C620B}"/>
              </a:ext>
            </a:extLst>
          </p:cNvPr>
          <p:cNvSpPr>
            <a:spLocks noGrp="1"/>
          </p:cNvSpPr>
          <p:nvPr>
            <p:ph idx="1"/>
          </p:nvPr>
        </p:nvSpPr>
        <p:spPr>
          <a:xfrm>
            <a:off x="838200" y="1153183"/>
            <a:ext cx="10515600" cy="4972313"/>
          </a:xfrm>
        </p:spPr>
        <p:txBody>
          <a:bodyPr/>
          <a:lstStyle/>
          <a:p>
            <a:pPr marL="0" lvl="0" indent="0">
              <a:lnSpc>
                <a:spcPct val="100000"/>
              </a:lnSpc>
              <a:spcBef>
                <a:spcPts val="0"/>
              </a:spcBef>
              <a:spcAft>
                <a:spcPts val="0"/>
              </a:spcAft>
              <a:buClr>
                <a:srgbClr val="FFFFFF"/>
              </a:buClr>
              <a:buSzPts val="1800"/>
              <a:buNone/>
            </a:pPr>
            <a:r>
              <a:rPr lang="en-US" b="1" dirty="0">
                <a:solidFill>
                  <a:srgbClr val="FFFFFF"/>
                </a:solidFill>
                <a:ea typeface="Calibri"/>
                <a:cs typeface="Calibri"/>
                <a:sym typeface="Calibri"/>
              </a:rPr>
              <a:t>Authors,</a:t>
            </a:r>
            <a:endParaRPr lang="en-US" dirty="0"/>
          </a:p>
          <a:p>
            <a:pPr marL="0" lvl="0" indent="0">
              <a:lnSpc>
                <a:spcPct val="100000"/>
              </a:lnSpc>
              <a:spcBef>
                <a:spcPts val="0"/>
              </a:spcBef>
              <a:spcAft>
                <a:spcPts val="0"/>
              </a:spcAft>
              <a:buClr>
                <a:srgbClr val="FFFFFF"/>
              </a:buClr>
              <a:buSzPts val="1800"/>
              <a:buNone/>
            </a:pPr>
            <a:r>
              <a:rPr lang="en-US" b="1" dirty="0">
                <a:solidFill>
                  <a:srgbClr val="FFFFFF"/>
                </a:solidFill>
                <a:ea typeface="Calibri"/>
                <a:cs typeface="Calibri"/>
                <a:sym typeface="Calibri"/>
              </a:rPr>
              <a:t>Year of publication, type of </a:t>
            </a:r>
            <a:r>
              <a:rPr lang="en-US" b="1" dirty="0" err="1">
                <a:solidFill>
                  <a:srgbClr val="FFFFFF"/>
                </a:solidFill>
                <a:ea typeface="Calibri"/>
                <a:cs typeface="Calibri"/>
                <a:sym typeface="Calibri"/>
              </a:rPr>
              <a:t>journalAuthors</a:t>
            </a:r>
            <a:r>
              <a:rPr lang="en-US" b="1" dirty="0">
                <a:solidFill>
                  <a:srgbClr val="FFFFFF"/>
                </a:solidFill>
                <a:ea typeface="Calibri"/>
                <a:cs typeface="Calibri"/>
                <a:sym typeface="Calibri"/>
              </a:rPr>
              <a:t>,</a:t>
            </a:r>
            <a:endParaRPr lang="en-US" dirty="0"/>
          </a:p>
          <a:p>
            <a:pPr marL="0" lvl="0" indent="0">
              <a:lnSpc>
                <a:spcPct val="100000"/>
              </a:lnSpc>
              <a:spcBef>
                <a:spcPts val="0"/>
              </a:spcBef>
              <a:spcAft>
                <a:spcPts val="0"/>
              </a:spcAft>
              <a:buClr>
                <a:srgbClr val="FFFFFF"/>
              </a:buClr>
              <a:buSzPts val="1800"/>
              <a:buNone/>
            </a:pPr>
            <a:r>
              <a:rPr lang="en-US" b="1" dirty="0">
                <a:solidFill>
                  <a:srgbClr val="FFFFFF"/>
                </a:solidFill>
                <a:ea typeface="Calibri"/>
                <a:cs typeface="Calibri"/>
                <a:sym typeface="Calibri"/>
              </a:rPr>
              <a:t>Year </a:t>
            </a:r>
            <a:r>
              <a:rPr lang="en-US" b="1" dirty="0" err="1">
                <a:solidFill>
                  <a:srgbClr val="FFFFFF"/>
                </a:solidFill>
                <a:ea typeface="Calibri"/>
                <a:cs typeface="Calibri"/>
                <a:sym typeface="Calibri"/>
              </a:rPr>
              <a:t>ofAuthors</a:t>
            </a:r>
            <a:r>
              <a:rPr lang="en-US" b="1" dirty="0">
                <a:solidFill>
                  <a:srgbClr val="FFFFFF"/>
                </a:solidFill>
                <a:ea typeface="Calibri"/>
                <a:cs typeface="Calibri"/>
                <a:sym typeface="Calibri"/>
              </a:rPr>
              <a:t>,</a:t>
            </a:r>
            <a:endParaRPr lang="en-US" dirty="0"/>
          </a:p>
          <a:p>
            <a:pPr marL="0" lvl="0" indent="0">
              <a:lnSpc>
                <a:spcPct val="100000"/>
              </a:lnSpc>
              <a:spcBef>
                <a:spcPts val="0"/>
              </a:spcBef>
              <a:spcAft>
                <a:spcPts val="0"/>
              </a:spcAft>
              <a:buClr>
                <a:srgbClr val="FFFFFF"/>
              </a:buClr>
              <a:buSzPts val="1800"/>
              <a:buNone/>
            </a:pPr>
            <a:r>
              <a:rPr lang="en-US" b="1" dirty="0">
                <a:solidFill>
                  <a:srgbClr val="FFFFFF"/>
                </a:solidFill>
                <a:ea typeface="Calibri"/>
                <a:cs typeface="Calibri"/>
                <a:sym typeface="Calibri"/>
              </a:rPr>
              <a:t>Year of publication, type of journal</a:t>
            </a:r>
            <a:endParaRPr lang="en-US" dirty="0"/>
          </a:p>
          <a:p>
            <a:pPr marL="0" lvl="0" indent="0">
              <a:lnSpc>
                <a:spcPct val="100000"/>
              </a:lnSpc>
              <a:spcBef>
                <a:spcPts val="0"/>
              </a:spcBef>
              <a:spcAft>
                <a:spcPts val="0"/>
              </a:spcAft>
              <a:buClr>
                <a:srgbClr val="FFFFFF"/>
              </a:buClr>
              <a:buSzPts val="1800"/>
              <a:buNone/>
            </a:pPr>
            <a:r>
              <a:rPr lang="en-US" b="1" dirty="0">
                <a:solidFill>
                  <a:srgbClr val="FFFFFF"/>
                </a:solidFill>
                <a:ea typeface="Calibri"/>
                <a:cs typeface="Calibri"/>
                <a:sym typeface="Calibri"/>
              </a:rPr>
              <a:t> publication, type of journal</a:t>
            </a:r>
            <a:endParaRPr lang="en-US" dirty="0"/>
          </a:p>
          <a:p>
            <a:pPr marL="0" lvl="0" indent="0">
              <a:lnSpc>
                <a:spcPct val="100000"/>
              </a:lnSpc>
              <a:spcBef>
                <a:spcPts val="0"/>
              </a:spcBef>
              <a:spcAft>
                <a:spcPts val="0"/>
              </a:spcAft>
              <a:buClr>
                <a:srgbClr val="FFFFFF"/>
              </a:buClr>
              <a:buSzPts val="1800"/>
              <a:buNone/>
            </a:pPr>
            <a:endParaRPr lang="en-US" dirty="0"/>
          </a:p>
        </p:txBody>
      </p:sp>
      <p:sp>
        <p:nvSpPr>
          <p:cNvPr id="4" name="Date Placeholder 3">
            <a:extLst>
              <a:ext uri="{FF2B5EF4-FFF2-40B4-BE49-F238E27FC236}">
                <a16:creationId xmlns:a16="http://schemas.microsoft.com/office/drawing/2014/main" id="{C98E731F-F4E0-8B35-3B16-515B429E50CA}"/>
              </a:ext>
            </a:extLst>
          </p:cNvPr>
          <p:cNvSpPr>
            <a:spLocks noGrp="1"/>
          </p:cNvSpPr>
          <p:nvPr>
            <p:ph type="dt" sz="half" idx="10"/>
          </p:nvPr>
        </p:nvSpPr>
        <p:spPr/>
        <p:txBody>
          <a:bodyPr/>
          <a:lstStyle/>
          <a:p>
            <a:pPr>
              <a:defRPr/>
            </a:pPr>
            <a:fld id="{9FCC6B52-9971-410F-B970-172C9ABC021C}" type="datetime8">
              <a:rPr lang="en-IN" smtClean="0"/>
              <a:t>06-05-2026 14:26</a:t>
            </a:fld>
            <a:endParaRPr lang="en-IN"/>
          </a:p>
        </p:txBody>
      </p:sp>
      <p:sp>
        <p:nvSpPr>
          <p:cNvPr id="5" name="Slide Number Placeholder 4">
            <a:extLst>
              <a:ext uri="{FF2B5EF4-FFF2-40B4-BE49-F238E27FC236}">
                <a16:creationId xmlns:a16="http://schemas.microsoft.com/office/drawing/2014/main" id="{0ACB3A0B-5B52-B7A4-D77B-8B44763FD02A}"/>
              </a:ext>
            </a:extLst>
          </p:cNvPr>
          <p:cNvSpPr>
            <a:spLocks noGrp="1"/>
          </p:cNvSpPr>
          <p:nvPr>
            <p:ph type="sldNum" sz="quarter" idx="12"/>
          </p:nvPr>
        </p:nvSpPr>
        <p:spPr/>
        <p:txBody>
          <a:bodyPr/>
          <a:lstStyle/>
          <a:p>
            <a:pPr>
              <a:defRPr/>
            </a:pPr>
            <a:fld id="{AAFC9A1D-E715-4FF0-BABF-4724B2795EE9}" type="slidenum">
              <a:rPr lang="en-IN" smtClean="0"/>
              <a:pPr>
                <a:defRPr/>
              </a:pPr>
              <a:t>8</a:t>
            </a:fld>
            <a:endParaRPr lang="en-IN"/>
          </a:p>
        </p:txBody>
      </p:sp>
      <p:graphicFrame>
        <p:nvGraphicFramePr>
          <p:cNvPr id="2" name="Google Shape;123;p17">
            <a:extLst>
              <a:ext uri="{FF2B5EF4-FFF2-40B4-BE49-F238E27FC236}">
                <a16:creationId xmlns:a16="http://schemas.microsoft.com/office/drawing/2014/main" id="{18F32064-3594-1011-B97E-1A45A8433675}"/>
              </a:ext>
            </a:extLst>
          </p:cNvPr>
          <p:cNvGraphicFramePr/>
          <p:nvPr>
            <p:extLst>
              <p:ext uri="{D42A27DB-BD31-4B8C-83A1-F6EECF244321}">
                <p14:modId xmlns:p14="http://schemas.microsoft.com/office/powerpoint/2010/main" val="1258944786"/>
              </p:ext>
            </p:extLst>
          </p:nvPr>
        </p:nvGraphicFramePr>
        <p:xfrm>
          <a:off x="545070" y="1792230"/>
          <a:ext cx="11101860" cy="3729549"/>
        </p:xfrm>
        <a:graphic>
          <a:graphicData uri="http://schemas.openxmlformats.org/drawingml/2006/table">
            <a:tbl>
              <a:tblPr>
                <a:noFill/>
              </a:tblPr>
              <a:tblGrid>
                <a:gridCol w="2220053">
                  <a:extLst>
                    <a:ext uri="{9D8B030D-6E8A-4147-A177-3AD203B41FA5}">
                      <a16:colId xmlns:a16="http://schemas.microsoft.com/office/drawing/2014/main" val="20000"/>
                    </a:ext>
                  </a:extLst>
                </a:gridCol>
                <a:gridCol w="2220053">
                  <a:extLst>
                    <a:ext uri="{9D8B030D-6E8A-4147-A177-3AD203B41FA5}">
                      <a16:colId xmlns:a16="http://schemas.microsoft.com/office/drawing/2014/main" val="20001"/>
                    </a:ext>
                  </a:extLst>
                </a:gridCol>
                <a:gridCol w="2221648">
                  <a:extLst>
                    <a:ext uri="{9D8B030D-6E8A-4147-A177-3AD203B41FA5}">
                      <a16:colId xmlns:a16="http://schemas.microsoft.com/office/drawing/2014/main" val="20002"/>
                    </a:ext>
                  </a:extLst>
                </a:gridCol>
                <a:gridCol w="2220053">
                  <a:extLst>
                    <a:ext uri="{9D8B030D-6E8A-4147-A177-3AD203B41FA5}">
                      <a16:colId xmlns:a16="http://schemas.microsoft.com/office/drawing/2014/main" val="20003"/>
                    </a:ext>
                  </a:extLst>
                </a:gridCol>
                <a:gridCol w="2220053">
                  <a:extLst>
                    <a:ext uri="{9D8B030D-6E8A-4147-A177-3AD203B41FA5}">
                      <a16:colId xmlns:a16="http://schemas.microsoft.com/office/drawing/2014/main" val="20004"/>
                    </a:ext>
                  </a:extLst>
                </a:gridCol>
              </a:tblGrid>
              <a:tr h="1316822">
                <a:tc>
                  <a:txBody>
                    <a:bodyPr/>
                    <a:lstStyle/>
                    <a:p>
                      <a:pPr marL="0" marR="0" lvl="0" indent="0" algn="l" rtl="0">
                        <a:lnSpc>
                          <a:spcPct val="100000"/>
                        </a:lnSpc>
                        <a:spcBef>
                          <a:spcPts val="0"/>
                        </a:spcBef>
                        <a:spcAft>
                          <a:spcPts val="0"/>
                        </a:spcAft>
                        <a:buClr>
                          <a:srgbClr val="FFFFFF"/>
                        </a:buClr>
                        <a:buSzPts val="1800"/>
                        <a:buFont typeface="Calibri"/>
                        <a:buNone/>
                      </a:pPr>
                      <a:r>
                        <a:rPr lang="en-US" sz="1800" b="1" i="0" u="none" strike="noStrike" cap="none" dirty="0">
                          <a:solidFill>
                            <a:srgbClr val="FFFFFF"/>
                          </a:solidFill>
                          <a:latin typeface="+mn-lt"/>
                          <a:ea typeface="Calibri"/>
                          <a:cs typeface="Calibri"/>
                          <a:sym typeface="Calibri"/>
                        </a:rPr>
                        <a:t>Authors,</a:t>
                      </a:r>
                      <a:endParaRPr lang="en-US" dirty="0"/>
                    </a:p>
                    <a:p>
                      <a:pPr marL="0" marR="0" lvl="0" indent="0" algn="l" rtl="0">
                        <a:lnSpc>
                          <a:spcPct val="100000"/>
                        </a:lnSpc>
                        <a:spcBef>
                          <a:spcPts val="0"/>
                        </a:spcBef>
                        <a:spcAft>
                          <a:spcPts val="0"/>
                        </a:spcAft>
                        <a:buClr>
                          <a:srgbClr val="FFFFFF"/>
                        </a:buClr>
                        <a:buSzPts val="1800"/>
                        <a:buFont typeface="Calibri"/>
                        <a:buNone/>
                      </a:pPr>
                      <a:r>
                        <a:rPr lang="en-US" sz="1800" b="1" i="0" u="none" strike="noStrike" cap="none" dirty="0">
                          <a:solidFill>
                            <a:srgbClr val="FFFFFF"/>
                          </a:solidFill>
                          <a:latin typeface="+mn-lt"/>
                          <a:ea typeface="Calibri"/>
                          <a:cs typeface="Calibri"/>
                          <a:sym typeface="Calibri"/>
                        </a:rPr>
                        <a:t>Year of publication, type of journal</a:t>
                      </a:r>
                      <a:endParaRPr lang="en-US" dirty="0"/>
                    </a:p>
                    <a:p>
                      <a:pPr marL="0" marR="0" lvl="0" indent="0" algn="l" rtl="0">
                        <a:lnSpc>
                          <a:spcPct val="100000"/>
                        </a:lnSpc>
                        <a:spcBef>
                          <a:spcPts val="0"/>
                        </a:spcBef>
                        <a:spcAft>
                          <a:spcPts val="0"/>
                        </a:spcAft>
                        <a:buClr>
                          <a:srgbClr val="FFFFFF"/>
                        </a:buClr>
                        <a:buSzPts val="1800"/>
                        <a:buFont typeface="Calibri"/>
                        <a:buNone/>
                      </a:pPr>
                      <a:endParaRPr dirty="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l" rtl="0">
                        <a:lnSpc>
                          <a:spcPct val="100000"/>
                        </a:lnSpc>
                        <a:spcBef>
                          <a:spcPts val="0"/>
                        </a:spcBef>
                        <a:spcAft>
                          <a:spcPts val="0"/>
                        </a:spcAft>
                        <a:buClr>
                          <a:srgbClr val="FFFFFF"/>
                        </a:buClr>
                        <a:buSzPts val="1800"/>
                        <a:buFont typeface="Calibri"/>
                        <a:buNone/>
                      </a:pPr>
                      <a:r>
                        <a:rPr lang="en-US" sz="1800" b="1" i="0" u="none" strike="noStrike" cap="none">
                          <a:solidFill>
                            <a:srgbClr val="FFFFFF"/>
                          </a:solidFill>
                          <a:latin typeface="Calibri"/>
                          <a:ea typeface="Calibri"/>
                          <a:cs typeface="Calibri"/>
                          <a:sym typeface="Calibri"/>
                        </a:rPr>
                        <a:t>Methodology</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l" rtl="0">
                        <a:lnSpc>
                          <a:spcPct val="100000"/>
                        </a:lnSpc>
                        <a:spcBef>
                          <a:spcPts val="0"/>
                        </a:spcBef>
                        <a:spcAft>
                          <a:spcPts val="0"/>
                        </a:spcAft>
                        <a:buClr>
                          <a:srgbClr val="FFFFFF"/>
                        </a:buClr>
                        <a:buSzPts val="1800"/>
                        <a:buFont typeface="Calibri"/>
                        <a:buNone/>
                      </a:pPr>
                      <a:r>
                        <a:rPr lang="en-US" sz="1800" b="1" i="0" u="none" strike="noStrike" cap="none">
                          <a:solidFill>
                            <a:srgbClr val="FFFFFF"/>
                          </a:solidFill>
                          <a:latin typeface="Calibri"/>
                          <a:ea typeface="Calibri"/>
                          <a:cs typeface="Calibri"/>
                          <a:sym typeface="Calibri"/>
                        </a:rPr>
                        <a:t>Results obtained</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l" rtl="0">
                        <a:lnSpc>
                          <a:spcPct val="100000"/>
                        </a:lnSpc>
                        <a:spcBef>
                          <a:spcPts val="0"/>
                        </a:spcBef>
                        <a:spcAft>
                          <a:spcPts val="0"/>
                        </a:spcAft>
                        <a:buClr>
                          <a:srgbClr val="FFFFFF"/>
                        </a:buClr>
                        <a:buSzPts val="1800"/>
                        <a:buFont typeface="Calibri"/>
                        <a:buNone/>
                      </a:pPr>
                      <a:r>
                        <a:rPr lang="en-US" sz="1800" b="1" i="0" u="none" strike="noStrike" cap="none">
                          <a:solidFill>
                            <a:srgbClr val="FFFFFF"/>
                          </a:solidFill>
                          <a:latin typeface="Calibri"/>
                          <a:ea typeface="Calibri"/>
                          <a:cs typeface="Calibri"/>
                          <a:sym typeface="Calibri"/>
                        </a:rPr>
                        <a:t>Advantages</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l" rtl="0">
                        <a:lnSpc>
                          <a:spcPct val="100000"/>
                        </a:lnSpc>
                        <a:spcBef>
                          <a:spcPts val="0"/>
                        </a:spcBef>
                        <a:spcAft>
                          <a:spcPts val="0"/>
                        </a:spcAft>
                        <a:buClr>
                          <a:srgbClr val="FFFFFF"/>
                        </a:buClr>
                        <a:buSzPts val="1800"/>
                        <a:buFont typeface="Calibri"/>
                        <a:buNone/>
                      </a:pPr>
                      <a:r>
                        <a:rPr lang="en-US" sz="1800" b="1" i="0" u="none" strike="noStrike" cap="none">
                          <a:solidFill>
                            <a:srgbClr val="FFFFFF"/>
                          </a:solidFill>
                          <a:latin typeface="Calibri"/>
                          <a:ea typeface="Calibri"/>
                          <a:cs typeface="Calibri"/>
                          <a:sym typeface="Calibri"/>
                        </a:rPr>
                        <a:t>Disadvantages</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2412727">
                <a:tc>
                  <a:txBody>
                    <a:bodyPr/>
                    <a:lstStyle/>
                    <a:p>
                      <a:pPr marL="0" marR="0" lvl="0" indent="0" algn="l" rtl="0">
                        <a:spcBef>
                          <a:spcPts val="0"/>
                        </a:spcBef>
                        <a:spcAft>
                          <a:spcPts val="0"/>
                        </a:spcAft>
                        <a:buNone/>
                      </a:pPr>
                      <a:r>
                        <a:rPr lang="en-IN" b="1" dirty="0">
                          <a:solidFill>
                            <a:srgbClr val="FF0000"/>
                          </a:solidFill>
                        </a:rPr>
                        <a:t>Paper 4</a:t>
                      </a:r>
                      <a:r>
                        <a:rPr lang="en-IN" dirty="0">
                          <a:solidFill>
                            <a:srgbClr val="FF0000"/>
                          </a:solidFill>
                        </a:rPr>
                        <a:t> </a:t>
                      </a:r>
                      <a:br>
                        <a:rPr lang="en-IN" dirty="0"/>
                      </a:br>
                      <a:r>
                        <a:rPr lang="en-IN" b="1" dirty="0"/>
                        <a:t>Low Voltage 6T SRAM Cell Design Using 90nm and 45nm CMOS Technology</a:t>
                      </a:r>
                      <a:r>
                        <a:rPr lang="en-IN" dirty="0"/>
                        <a:t> </a:t>
                      </a:r>
                      <a:br>
                        <a:rPr lang="en-IN" dirty="0"/>
                      </a:br>
                      <a:r>
                        <a:rPr lang="en-IN" i="1" dirty="0"/>
                        <a:t>T. Kalpana et al. (2024</a:t>
                      </a:r>
                      <a:endParaRPr lang="en-IN" dirty="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2DEEF"/>
                    </a:solidFill>
                  </a:tcPr>
                </a:tc>
                <a:tc>
                  <a:txBody>
                    <a:bodyPr/>
                    <a:lstStyle/>
                    <a:p>
                      <a:pPr marL="0" marR="0" lvl="0" indent="0" algn="l">
                        <a:spcBef>
                          <a:spcPts val="0"/>
                        </a:spcBef>
                        <a:spcAft>
                          <a:spcPts val="0"/>
                        </a:spcAft>
                        <a:buNone/>
                      </a:pPr>
                      <a:r>
                        <a:rPr lang="en-US" dirty="0"/>
                        <a:t>The paper designs and analyzes a low-voltage 6T SRAM cell using 90nm and 45nm CMOS technologies and compares their performance</a:t>
                      </a:r>
                      <a:endParaRPr lang="en-US" dirty="0">
                        <a:sym typeface="Calibri"/>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2DEEF"/>
                    </a:solidFill>
                  </a:tcPr>
                </a:tc>
                <a:tc>
                  <a:txBody>
                    <a:bodyPr/>
                    <a:lstStyle/>
                    <a:p>
                      <a:pPr lvl="0" algn="l">
                        <a:lnSpc>
                          <a:spcPct val="100000"/>
                        </a:lnSpc>
                        <a:spcBef>
                          <a:spcPts val="0"/>
                        </a:spcBef>
                        <a:spcAft>
                          <a:spcPts val="0"/>
                        </a:spcAft>
                        <a:buNone/>
                      </a:pPr>
                      <a:r>
                        <a:rPr lang="en-US" dirty="0"/>
                        <a:t>Results show that lower technology nodes help reduce power consumption while improving SRAM efficiency.</a:t>
                      </a:r>
                    </a:p>
                    <a:p>
                      <a:pPr marL="0" marR="0" lvl="0" indent="0" algn="l">
                        <a:spcBef>
                          <a:spcPts val="0"/>
                        </a:spcBef>
                        <a:spcAft>
                          <a:spcPts val="0"/>
                        </a:spcAft>
                        <a:buNone/>
                      </a:pPr>
                      <a:endParaRPr lang="en-US" sz="1800" dirty="0">
                        <a:solidFill>
                          <a:schemeClr val="dk1"/>
                        </a:solidFill>
                        <a:latin typeface="Calibri"/>
                        <a:ea typeface="Calibri"/>
                        <a:cs typeface="Calibri"/>
                        <a:sym typeface="Calibri"/>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2DEEF"/>
                    </a:solidFill>
                  </a:tcPr>
                </a:tc>
                <a:tc>
                  <a:txBody>
                    <a:bodyPr/>
                    <a:lstStyle/>
                    <a:p>
                      <a:pPr lvl="0" algn="l">
                        <a:lnSpc>
                          <a:spcPct val="100000"/>
                        </a:lnSpc>
                        <a:spcBef>
                          <a:spcPts val="0"/>
                        </a:spcBef>
                        <a:spcAft>
                          <a:spcPts val="0"/>
                        </a:spcAft>
                        <a:buNone/>
                      </a:pPr>
                      <a:r>
                        <a:rPr lang="en-US" dirty="0"/>
                        <a:t>Reduced power consumption, improved low-voltage operation, better efficiency</a:t>
                      </a:r>
                    </a:p>
                    <a:p>
                      <a:pPr lvl="0" algn="l">
                        <a:lnSpc>
                          <a:spcPct val="100000"/>
                        </a:lnSpc>
                        <a:spcBef>
                          <a:spcPts val="0"/>
                        </a:spcBef>
                        <a:spcAft>
                          <a:spcPts val="0"/>
                        </a:spcAft>
                        <a:buNone/>
                      </a:pPr>
                      <a:endParaRPr lang="en-US" dirty="0"/>
                    </a:p>
                    <a:p>
                      <a:pPr lvl="0">
                        <a:buNone/>
                      </a:pPr>
                      <a:endParaRPr lang="en-US" dirty="0">
                        <a:sym typeface="Calibri"/>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2DEEF"/>
                    </a:solidFill>
                  </a:tcPr>
                </a:tc>
                <a:tc>
                  <a:txBody>
                    <a:bodyPr/>
                    <a:lstStyle/>
                    <a:p>
                      <a:pPr lvl="0">
                        <a:buNone/>
                      </a:pPr>
                      <a:r>
                        <a:rPr lang="en-US" dirty="0"/>
                        <a:t>Reduced noise margin and increased sensitivity at low voltages.</a:t>
                      </a:r>
                      <a:endParaRPr lang="en-US" dirty="0">
                        <a:sym typeface="Calibri"/>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2DEEF"/>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9545048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F8BCC-B513-980A-EDD7-3C03F9F0D91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EF32222-5C0F-B9AB-65E2-362AF15CEFDB}"/>
              </a:ext>
            </a:extLst>
          </p:cNvPr>
          <p:cNvSpPr>
            <a:spLocks noGrp="1"/>
          </p:cNvSpPr>
          <p:nvPr>
            <p:ph idx="1"/>
          </p:nvPr>
        </p:nvSpPr>
        <p:spPr>
          <a:xfrm>
            <a:off x="838200" y="1153183"/>
            <a:ext cx="10515600" cy="4972313"/>
          </a:xfrm>
        </p:spPr>
        <p:txBody>
          <a:bodyPr/>
          <a:lstStyle/>
          <a:p>
            <a:pPr marL="0" lvl="0" indent="0">
              <a:lnSpc>
                <a:spcPct val="100000"/>
              </a:lnSpc>
              <a:spcBef>
                <a:spcPts val="0"/>
              </a:spcBef>
              <a:spcAft>
                <a:spcPts val="0"/>
              </a:spcAft>
              <a:buClr>
                <a:srgbClr val="FFFFFF"/>
              </a:buClr>
              <a:buSzPts val="1800"/>
              <a:buNone/>
            </a:pPr>
            <a:r>
              <a:rPr lang="en-US" b="1" dirty="0">
                <a:solidFill>
                  <a:srgbClr val="FFFFFF"/>
                </a:solidFill>
                <a:ea typeface="Calibri"/>
                <a:cs typeface="Calibri"/>
                <a:sym typeface="Calibri"/>
              </a:rPr>
              <a:t>Authors,</a:t>
            </a:r>
            <a:endParaRPr lang="en-US" dirty="0"/>
          </a:p>
          <a:p>
            <a:pPr marL="0" lvl="0" indent="0">
              <a:lnSpc>
                <a:spcPct val="100000"/>
              </a:lnSpc>
              <a:spcBef>
                <a:spcPts val="0"/>
              </a:spcBef>
              <a:spcAft>
                <a:spcPts val="0"/>
              </a:spcAft>
              <a:buClr>
                <a:srgbClr val="FFFFFF"/>
              </a:buClr>
              <a:buSzPts val="1800"/>
              <a:buNone/>
            </a:pPr>
            <a:r>
              <a:rPr lang="en-US" b="1" dirty="0">
                <a:solidFill>
                  <a:srgbClr val="FFFFFF"/>
                </a:solidFill>
                <a:ea typeface="Calibri"/>
                <a:cs typeface="Calibri"/>
                <a:sym typeface="Calibri"/>
              </a:rPr>
              <a:t>Year of publication, type of </a:t>
            </a:r>
            <a:r>
              <a:rPr lang="en-US" b="1" dirty="0" err="1">
                <a:solidFill>
                  <a:srgbClr val="FFFFFF"/>
                </a:solidFill>
                <a:ea typeface="Calibri"/>
                <a:cs typeface="Calibri"/>
                <a:sym typeface="Calibri"/>
              </a:rPr>
              <a:t>journalAuthors</a:t>
            </a:r>
            <a:r>
              <a:rPr lang="en-US" b="1" dirty="0">
                <a:solidFill>
                  <a:srgbClr val="FFFFFF"/>
                </a:solidFill>
                <a:ea typeface="Calibri"/>
                <a:cs typeface="Calibri"/>
                <a:sym typeface="Calibri"/>
              </a:rPr>
              <a:t>,</a:t>
            </a:r>
            <a:endParaRPr lang="en-US" dirty="0"/>
          </a:p>
          <a:p>
            <a:pPr marL="0" lvl="0" indent="0">
              <a:lnSpc>
                <a:spcPct val="100000"/>
              </a:lnSpc>
              <a:spcBef>
                <a:spcPts val="0"/>
              </a:spcBef>
              <a:spcAft>
                <a:spcPts val="0"/>
              </a:spcAft>
              <a:buClr>
                <a:srgbClr val="FFFFFF"/>
              </a:buClr>
              <a:buSzPts val="1800"/>
              <a:buNone/>
            </a:pPr>
            <a:r>
              <a:rPr lang="en-US" b="1" dirty="0">
                <a:solidFill>
                  <a:srgbClr val="FFFFFF"/>
                </a:solidFill>
                <a:ea typeface="Calibri"/>
                <a:cs typeface="Calibri"/>
                <a:sym typeface="Calibri"/>
              </a:rPr>
              <a:t>Year </a:t>
            </a:r>
            <a:r>
              <a:rPr lang="en-US" b="1" dirty="0" err="1">
                <a:solidFill>
                  <a:srgbClr val="FFFFFF"/>
                </a:solidFill>
                <a:ea typeface="Calibri"/>
                <a:cs typeface="Calibri"/>
                <a:sym typeface="Calibri"/>
              </a:rPr>
              <a:t>ofAuthors</a:t>
            </a:r>
            <a:r>
              <a:rPr lang="en-US" b="1" dirty="0">
                <a:solidFill>
                  <a:srgbClr val="FFFFFF"/>
                </a:solidFill>
                <a:ea typeface="Calibri"/>
                <a:cs typeface="Calibri"/>
                <a:sym typeface="Calibri"/>
              </a:rPr>
              <a:t>,</a:t>
            </a:r>
            <a:endParaRPr lang="en-US" dirty="0"/>
          </a:p>
          <a:p>
            <a:pPr marL="0" lvl="0" indent="0">
              <a:lnSpc>
                <a:spcPct val="100000"/>
              </a:lnSpc>
              <a:spcBef>
                <a:spcPts val="0"/>
              </a:spcBef>
              <a:spcAft>
                <a:spcPts val="0"/>
              </a:spcAft>
              <a:buClr>
                <a:srgbClr val="FFFFFF"/>
              </a:buClr>
              <a:buSzPts val="1800"/>
              <a:buNone/>
            </a:pPr>
            <a:r>
              <a:rPr lang="en-US" b="1" dirty="0">
                <a:solidFill>
                  <a:srgbClr val="FFFFFF"/>
                </a:solidFill>
                <a:ea typeface="Calibri"/>
                <a:cs typeface="Calibri"/>
                <a:sym typeface="Calibri"/>
              </a:rPr>
              <a:t>Year of publication, type of journal</a:t>
            </a:r>
            <a:endParaRPr lang="en-US" dirty="0"/>
          </a:p>
          <a:p>
            <a:pPr marL="0" lvl="0" indent="0">
              <a:lnSpc>
                <a:spcPct val="100000"/>
              </a:lnSpc>
              <a:spcBef>
                <a:spcPts val="0"/>
              </a:spcBef>
              <a:spcAft>
                <a:spcPts val="0"/>
              </a:spcAft>
              <a:buClr>
                <a:srgbClr val="FFFFFF"/>
              </a:buClr>
              <a:buSzPts val="1800"/>
              <a:buNone/>
            </a:pPr>
            <a:r>
              <a:rPr lang="en-US" b="1" dirty="0">
                <a:solidFill>
                  <a:srgbClr val="FFFFFF"/>
                </a:solidFill>
                <a:ea typeface="Calibri"/>
                <a:cs typeface="Calibri"/>
                <a:sym typeface="Calibri"/>
              </a:rPr>
              <a:t> publication, type of journal</a:t>
            </a:r>
            <a:endParaRPr lang="en-US" dirty="0"/>
          </a:p>
          <a:p>
            <a:pPr marL="0" lvl="0" indent="0">
              <a:lnSpc>
                <a:spcPct val="100000"/>
              </a:lnSpc>
              <a:spcBef>
                <a:spcPts val="0"/>
              </a:spcBef>
              <a:spcAft>
                <a:spcPts val="0"/>
              </a:spcAft>
              <a:buClr>
                <a:srgbClr val="FFFFFF"/>
              </a:buClr>
              <a:buSzPts val="1800"/>
              <a:buNone/>
            </a:pPr>
            <a:endParaRPr lang="en-US" dirty="0"/>
          </a:p>
        </p:txBody>
      </p:sp>
      <p:sp>
        <p:nvSpPr>
          <p:cNvPr id="4" name="Date Placeholder 3">
            <a:extLst>
              <a:ext uri="{FF2B5EF4-FFF2-40B4-BE49-F238E27FC236}">
                <a16:creationId xmlns:a16="http://schemas.microsoft.com/office/drawing/2014/main" id="{AF4171AA-9272-E64B-ECB8-388A8B2E9EF2}"/>
              </a:ext>
            </a:extLst>
          </p:cNvPr>
          <p:cNvSpPr>
            <a:spLocks noGrp="1"/>
          </p:cNvSpPr>
          <p:nvPr>
            <p:ph type="dt" sz="half" idx="10"/>
          </p:nvPr>
        </p:nvSpPr>
        <p:spPr/>
        <p:txBody>
          <a:bodyPr/>
          <a:lstStyle/>
          <a:p>
            <a:pPr>
              <a:defRPr/>
            </a:pPr>
            <a:fld id="{9FCC6B52-9971-410F-B970-172C9ABC021C}" type="datetime8">
              <a:rPr lang="en-IN" smtClean="0"/>
              <a:t>06-05-2026 14:28</a:t>
            </a:fld>
            <a:endParaRPr lang="en-IN"/>
          </a:p>
        </p:txBody>
      </p:sp>
      <p:sp>
        <p:nvSpPr>
          <p:cNvPr id="5" name="Slide Number Placeholder 4">
            <a:extLst>
              <a:ext uri="{FF2B5EF4-FFF2-40B4-BE49-F238E27FC236}">
                <a16:creationId xmlns:a16="http://schemas.microsoft.com/office/drawing/2014/main" id="{B4400B80-4F42-E206-3638-D02EB7EC88B4}"/>
              </a:ext>
            </a:extLst>
          </p:cNvPr>
          <p:cNvSpPr>
            <a:spLocks noGrp="1"/>
          </p:cNvSpPr>
          <p:nvPr>
            <p:ph type="sldNum" sz="quarter" idx="12"/>
          </p:nvPr>
        </p:nvSpPr>
        <p:spPr/>
        <p:txBody>
          <a:bodyPr/>
          <a:lstStyle/>
          <a:p>
            <a:pPr>
              <a:defRPr/>
            </a:pPr>
            <a:fld id="{AAFC9A1D-E715-4FF0-BABF-4724B2795EE9}" type="slidenum">
              <a:rPr lang="en-IN" smtClean="0"/>
              <a:pPr>
                <a:defRPr/>
              </a:pPr>
              <a:t>9</a:t>
            </a:fld>
            <a:endParaRPr lang="en-IN"/>
          </a:p>
        </p:txBody>
      </p:sp>
      <p:graphicFrame>
        <p:nvGraphicFramePr>
          <p:cNvPr id="2" name="Google Shape;123;p17">
            <a:extLst>
              <a:ext uri="{FF2B5EF4-FFF2-40B4-BE49-F238E27FC236}">
                <a16:creationId xmlns:a16="http://schemas.microsoft.com/office/drawing/2014/main" id="{0CCEAF31-8EFA-0BD7-DEA8-62555C444429}"/>
              </a:ext>
            </a:extLst>
          </p:cNvPr>
          <p:cNvGraphicFramePr/>
          <p:nvPr>
            <p:extLst>
              <p:ext uri="{D42A27DB-BD31-4B8C-83A1-F6EECF244321}">
                <p14:modId xmlns:p14="http://schemas.microsoft.com/office/powerpoint/2010/main" val="2983318962"/>
              </p:ext>
            </p:extLst>
          </p:nvPr>
        </p:nvGraphicFramePr>
        <p:xfrm>
          <a:off x="545070" y="1774564"/>
          <a:ext cx="11101860" cy="3729549"/>
        </p:xfrm>
        <a:graphic>
          <a:graphicData uri="http://schemas.openxmlformats.org/drawingml/2006/table">
            <a:tbl>
              <a:tblPr>
                <a:noFill/>
              </a:tblPr>
              <a:tblGrid>
                <a:gridCol w="2220053">
                  <a:extLst>
                    <a:ext uri="{9D8B030D-6E8A-4147-A177-3AD203B41FA5}">
                      <a16:colId xmlns:a16="http://schemas.microsoft.com/office/drawing/2014/main" val="20000"/>
                    </a:ext>
                  </a:extLst>
                </a:gridCol>
                <a:gridCol w="2220053">
                  <a:extLst>
                    <a:ext uri="{9D8B030D-6E8A-4147-A177-3AD203B41FA5}">
                      <a16:colId xmlns:a16="http://schemas.microsoft.com/office/drawing/2014/main" val="20001"/>
                    </a:ext>
                  </a:extLst>
                </a:gridCol>
                <a:gridCol w="2221648">
                  <a:extLst>
                    <a:ext uri="{9D8B030D-6E8A-4147-A177-3AD203B41FA5}">
                      <a16:colId xmlns:a16="http://schemas.microsoft.com/office/drawing/2014/main" val="20002"/>
                    </a:ext>
                  </a:extLst>
                </a:gridCol>
                <a:gridCol w="2220053">
                  <a:extLst>
                    <a:ext uri="{9D8B030D-6E8A-4147-A177-3AD203B41FA5}">
                      <a16:colId xmlns:a16="http://schemas.microsoft.com/office/drawing/2014/main" val="20003"/>
                    </a:ext>
                  </a:extLst>
                </a:gridCol>
                <a:gridCol w="2220053">
                  <a:extLst>
                    <a:ext uri="{9D8B030D-6E8A-4147-A177-3AD203B41FA5}">
                      <a16:colId xmlns:a16="http://schemas.microsoft.com/office/drawing/2014/main" val="20004"/>
                    </a:ext>
                  </a:extLst>
                </a:gridCol>
              </a:tblGrid>
              <a:tr h="1316822">
                <a:tc>
                  <a:txBody>
                    <a:bodyPr/>
                    <a:lstStyle/>
                    <a:p>
                      <a:pPr marL="0" marR="0" lvl="0" indent="0" algn="l" rtl="0">
                        <a:lnSpc>
                          <a:spcPct val="100000"/>
                        </a:lnSpc>
                        <a:spcBef>
                          <a:spcPts val="0"/>
                        </a:spcBef>
                        <a:spcAft>
                          <a:spcPts val="0"/>
                        </a:spcAft>
                        <a:buClr>
                          <a:srgbClr val="FFFFFF"/>
                        </a:buClr>
                        <a:buSzPts val="1800"/>
                        <a:buFont typeface="Calibri"/>
                        <a:buNone/>
                      </a:pPr>
                      <a:r>
                        <a:rPr lang="en-US" sz="1800" b="1" i="0" u="none" strike="noStrike" cap="none" dirty="0">
                          <a:solidFill>
                            <a:srgbClr val="FFFFFF"/>
                          </a:solidFill>
                          <a:latin typeface="+mn-lt"/>
                          <a:ea typeface="Calibri"/>
                          <a:cs typeface="Calibri"/>
                          <a:sym typeface="Calibri"/>
                        </a:rPr>
                        <a:t>Authors,</a:t>
                      </a:r>
                      <a:endParaRPr lang="en-US" dirty="0"/>
                    </a:p>
                    <a:p>
                      <a:pPr marL="0" marR="0" lvl="0" indent="0" algn="l" rtl="0">
                        <a:lnSpc>
                          <a:spcPct val="100000"/>
                        </a:lnSpc>
                        <a:spcBef>
                          <a:spcPts val="0"/>
                        </a:spcBef>
                        <a:spcAft>
                          <a:spcPts val="0"/>
                        </a:spcAft>
                        <a:buClr>
                          <a:srgbClr val="FFFFFF"/>
                        </a:buClr>
                        <a:buSzPts val="1800"/>
                        <a:buFont typeface="Calibri"/>
                        <a:buNone/>
                      </a:pPr>
                      <a:r>
                        <a:rPr lang="en-US" sz="1800" b="1" i="0" u="none" strike="noStrike" cap="none" dirty="0">
                          <a:solidFill>
                            <a:srgbClr val="FFFFFF"/>
                          </a:solidFill>
                          <a:latin typeface="+mn-lt"/>
                          <a:ea typeface="Calibri"/>
                          <a:cs typeface="Calibri"/>
                          <a:sym typeface="Calibri"/>
                        </a:rPr>
                        <a:t>Year of publication, type of journal</a:t>
                      </a:r>
                      <a:endParaRPr lang="en-US" dirty="0"/>
                    </a:p>
                    <a:p>
                      <a:pPr marL="0" marR="0" lvl="0" indent="0" algn="l" rtl="0">
                        <a:lnSpc>
                          <a:spcPct val="100000"/>
                        </a:lnSpc>
                        <a:spcBef>
                          <a:spcPts val="0"/>
                        </a:spcBef>
                        <a:spcAft>
                          <a:spcPts val="0"/>
                        </a:spcAft>
                        <a:buClr>
                          <a:srgbClr val="FFFFFF"/>
                        </a:buClr>
                        <a:buSzPts val="1800"/>
                        <a:buFont typeface="Calibri"/>
                        <a:buNone/>
                      </a:pPr>
                      <a:endParaRPr dirty="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l" rtl="0">
                        <a:lnSpc>
                          <a:spcPct val="100000"/>
                        </a:lnSpc>
                        <a:spcBef>
                          <a:spcPts val="0"/>
                        </a:spcBef>
                        <a:spcAft>
                          <a:spcPts val="0"/>
                        </a:spcAft>
                        <a:buClr>
                          <a:srgbClr val="FFFFFF"/>
                        </a:buClr>
                        <a:buSzPts val="1800"/>
                        <a:buFont typeface="Calibri"/>
                        <a:buNone/>
                      </a:pPr>
                      <a:r>
                        <a:rPr lang="en-US" sz="1800" b="1" i="0" u="none" strike="noStrike" cap="none">
                          <a:solidFill>
                            <a:srgbClr val="FFFFFF"/>
                          </a:solidFill>
                          <a:latin typeface="Calibri"/>
                          <a:ea typeface="Calibri"/>
                          <a:cs typeface="Calibri"/>
                          <a:sym typeface="Calibri"/>
                        </a:rPr>
                        <a:t>Methodology</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l" rtl="0">
                        <a:lnSpc>
                          <a:spcPct val="100000"/>
                        </a:lnSpc>
                        <a:spcBef>
                          <a:spcPts val="0"/>
                        </a:spcBef>
                        <a:spcAft>
                          <a:spcPts val="0"/>
                        </a:spcAft>
                        <a:buClr>
                          <a:srgbClr val="FFFFFF"/>
                        </a:buClr>
                        <a:buSzPts val="1800"/>
                        <a:buFont typeface="Calibri"/>
                        <a:buNone/>
                      </a:pPr>
                      <a:r>
                        <a:rPr lang="en-US" sz="1800" b="1" i="0" u="none" strike="noStrike" cap="none">
                          <a:solidFill>
                            <a:srgbClr val="FFFFFF"/>
                          </a:solidFill>
                          <a:latin typeface="Calibri"/>
                          <a:ea typeface="Calibri"/>
                          <a:cs typeface="Calibri"/>
                          <a:sym typeface="Calibri"/>
                        </a:rPr>
                        <a:t>Results obtained</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l" rtl="0">
                        <a:lnSpc>
                          <a:spcPct val="100000"/>
                        </a:lnSpc>
                        <a:spcBef>
                          <a:spcPts val="0"/>
                        </a:spcBef>
                        <a:spcAft>
                          <a:spcPts val="0"/>
                        </a:spcAft>
                        <a:buClr>
                          <a:srgbClr val="FFFFFF"/>
                        </a:buClr>
                        <a:buSzPts val="1800"/>
                        <a:buFont typeface="Calibri"/>
                        <a:buNone/>
                      </a:pPr>
                      <a:r>
                        <a:rPr lang="en-US" sz="1800" b="1" i="0" u="none" strike="noStrike" cap="none">
                          <a:solidFill>
                            <a:srgbClr val="FFFFFF"/>
                          </a:solidFill>
                          <a:latin typeface="Calibri"/>
                          <a:ea typeface="Calibri"/>
                          <a:cs typeface="Calibri"/>
                          <a:sym typeface="Calibri"/>
                        </a:rPr>
                        <a:t>Advantages</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l" rtl="0">
                        <a:lnSpc>
                          <a:spcPct val="100000"/>
                        </a:lnSpc>
                        <a:spcBef>
                          <a:spcPts val="0"/>
                        </a:spcBef>
                        <a:spcAft>
                          <a:spcPts val="0"/>
                        </a:spcAft>
                        <a:buClr>
                          <a:srgbClr val="FFFFFF"/>
                        </a:buClr>
                        <a:buSzPts val="1800"/>
                        <a:buFont typeface="Calibri"/>
                        <a:buNone/>
                      </a:pPr>
                      <a:r>
                        <a:rPr lang="en-US" sz="1800" b="1" i="0" u="none" strike="noStrike" cap="none">
                          <a:solidFill>
                            <a:srgbClr val="FFFFFF"/>
                          </a:solidFill>
                          <a:latin typeface="Calibri"/>
                          <a:ea typeface="Calibri"/>
                          <a:cs typeface="Calibri"/>
                          <a:sym typeface="Calibri"/>
                        </a:rPr>
                        <a:t>Disadvantages</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2412727">
                <a:tc>
                  <a:txBody>
                    <a:bodyPr/>
                    <a:lstStyle/>
                    <a:p>
                      <a:pPr marL="0" marR="0" lvl="0" indent="0" algn="l" rtl="0">
                        <a:spcBef>
                          <a:spcPts val="0"/>
                        </a:spcBef>
                        <a:spcAft>
                          <a:spcPts val="0"/>
                        </a:spcAft>
                        <a:buNone/>
                      </a:pPr>
                      <a:r>
                        <a:rPr lang="en-US" b="1" dirty="0">
                          <a:solidFill>
                            <a:srgbClr val="FF0000"/>
                          </a:solidFill>
                        </a:rPr>
                        <a:t>Paper 5</a:t>
                      </a:r>
                      <a:r>
                        <a:rPr lang="en-US" dirty="0">
                          <a:solidFill>
                            <a:srgbClr val="FF0000"/>
                          </a:solidFill>
                        </a:rPr>
                        <a:t> </a:t>
                      </a:r>
                      <a:br>
                        <a:rPr lang="en-US" dirty="0"/>
                      </a:br>
                      <a:r>
                        <a:rPr lang="en-US" b="1" dirty="0"/>
                        <a:t>Performance Analysis of 6T SRAM Cell and 64×64 Memory Array</a:t>
                      </a:r>
                      <a:r>
                        <a:rPr lang="en-US" dirty="0"/>
                        <a:t> </a:t>
                      </a:r>
                      <a:br>
                        <a:rPr lang="en-US" dirty="0"/>
                      </a:br>
                      <a:r>
                        <a:rPr lang="en-US" i="1" dirty="0"/>
                        <a:t>Tushar Singh et al. (2023)</a:t>
                      </a:r>
                      <a:endParaRPr lang="en-IN" dirty="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2DEEF"/>
                    </a:solidFill>
                  </a:tcPr>
                </a:tc>
                <a:tc>
                  <a:txBody>
                    <a:bodyPr/>
                    <a:lstStyle/>
                    <a:p>
                      <a:pPr marL="0" marR="0" lvl="0" indent="0" algn="l">
                        <a:spcBef>
                          <a:spcPts val="0"/>
                        </a:spcBef>
                        <a:spcAft>
                          <a:spcPts val="0"/>
                        </a:spcAft>
                        <a:buNone/>
                      </a:pPr>
                      <a:r>
                        <a:rPr lang="en-US" dirty="0"/>
                        <a:t>This paper analyzes a 6T SRAM cell integrated with a 64×64 memory array focusing on scalability and power efficiency.</a:t>
                      </a:r>
                      <a:endParaRPr lang="en-US" dirty="0">
                        <a:sym typeface="Calibri"/>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2DEEF"/>
                    </a:solidFill>
                  </a:tcPr>
                </a:tc>
                <a:tc>
                  <a:txBody>
                    <a:bodyPr/>
                    <a:lstStyle/>
                    <a:p>
                      <a:pPr marL="0" marR="0" lvl="0" indent="0" algn="l">
                        <a:spcBef>
                          <a:spcPts val="0"/>
                        </a:spcBef>
                        <a:spcAft>
                          <a:spcPts val="0"/>
                        </a:spcAft>
                        <a:buNone/>
                      </a:pPr>
                      <a:r>
                        <a:rPr lang="en-US" dirty="0"/>
                        <a:t>The study highlights the importance of optimization techniques for large-scale SRAM array implementation.</a:t>
                      </a:r>
                      <a:endParaRPr lang="en-US" sz="1800" dirty="0">
                        <a:solidFill>
                          <a:schemeClr val="dk1"/>
                        </a:solidFill>
                        <a:latin typeface="Calibri"/>
                        <a:ea typeface="Calibri"/>
                        <a:cs typeface="Calibri"/>
                        <a:sym typeface="Calibri"/>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2DEEF"/>
                    </a:solidFill>
                  </a:tcPr>
                </a:tc>
                <a:tc>
                  <a:txBody>
                    <a:bodyPr/>
                    <a:lstStyle/>
                    <a:p>
                      <a:pPr lvl="0" algn="l">
                        <a:lnSpc>
                          <a:spcPct val="100000"/>
                        </a:lnSpc>
                        <a:spcBef>
                          <a:spcPts val="0"/>
                        </a:spcBef>
                        <a:spcAft>
                          <a:spcPts val="0"/>
                        </a:spcAft>
                        <a:buNone/>
                      </a:pPr>
                      <a:r>
                        <a:rPr lang="en-US" dirty="0"/>
                        <a:t>Good scalability, suitable for large memory arrays, improved optimization.</a:t>
                      </a:r>
                    </a:p>
                    <a:p>
                      <a:pPr lvl="0">
                        <a:buNone/>
                      </a:pPr>
                      <a:endParaRPr lang="en-US" dirty="0">
                        <a:sym typeface="Calibri"/>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2DEEF"/>
                    </a:solidFill>
                  </a:tcPr>
                </a:tc>
                <a:tc>
                  <a:txBody>
                    <a:bodyPr/>
                    <a:lstStyle/>
                    <a:p>
                      <a:pPr lvl="0">
                        <a:buNone/>
                      </a:pPr>
                      <a:r>
                        <a:rPr lang="en-US" dirty="0"/>
                        <a:t>Increased design complexity and higher area requirement for large arrays.</a:t>
                      </a:r>
                      <a:endParaRPr lang="en-US" dirty="0">
                        <a:sym typeface="Calibri"/>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2DEEF"/>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5417629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901AF-9B73-448F-994F-4A08F69AE758}"/>
              </a:ext>
            </a:extLst>
          </p:cNvPr>
          <p:cNvSpPr>
            <a:spLocks noGrp="1"/>
          </p:cNvSpPr>
          <p:nvPr>
            <p:ph type="title"/>
          </p:nvPr>
        </p:nvSpPr>
        <p:spPr/>
        <p:txBody>
          <a:bodyPr/>
          <a:lstStyle/>
          <a:p>
            <a:r>
              <a:rPr lang="en-US" dirty="0"/>
              <a:t>Objectives</a:t>
            </a:r>
          </a:p>
        </p:txBody>
      </p:sp>
      <p:sp>
        <p:nvSpPr>
          <p:cNvPr id="4" name="Date Placeholder 3">
            <a:extLst>
              <a:ext uri="{FF2B5EF4-FFF2-40B4-BE49-F238E27FC236}">
                <a16:creationId xmlns:a16="http://schemas.microsoft.com/office/drawing/2014/main" id="{2B77E6B6-3ADE-4C21-837F-3A23BA37BB07}"/>
              </a:ext>
            </a:extLst>
          </p:cNvPr>
          <p:cNvSpPr>
            <a:spLocks noGrp="1"/>
          </p:cNvSpPr>
          <p:nvPr>
            <p:ph type="dt" sz="half" idx="10"/>
          </p:nvPr>
        </p:nvSpPr>
        <p:spPr/>
        <p:txBody>
          <a:bodyPr/>
          <a:lstStyle/>
          <a:p>
            <a:pPr>
              <a:defRPr/>
            </a:pPr>
            <a:fld id="{16AFC27B-2B20-4E5E-A500-47D4253C1411}" type="datetime8">
              <a:rPr lang="en-IN" smtClean="0"/>
              <a:t>06-05-2026 14:01</a:t>
            </a:fld>
            <a:endParaRPr lang="en-IN"/>
          </a:p>
        </p:txBody>
      </p:sp>
      <p:sp>
        <p:nvSpPr>
          <p:cNvPr id="5" name="Slide Number Placeholder 4">
            <a:extLst>
              <a:ext uri="{FF2B5EF4-FFF2-40B4-BE49-F238E27FC236}">
                <a16:creationId xmlns:a16="http://schemas.microsoft.com/office/drawing/2014/main" id="{FBAF71DD-65EF-43DD-BAC1-5C9FD1348FA9}"/>
              </a:ext>
            </a:extLst>
          </p:cNvPr>
          <p:cNvSpPr>
            <a:spLocks noGrp="1"/>
          </p:cNvSpPr>
          <p:nvPr>
            <p:ph type="sldNum" sz="quarter" idx="12"/>
          </p:nvPr>
        </p:nvSpPr>
        <p:spPr/>
        <p:txBody>
          <a:bodyPr/>
          <a:lstStyle/>
          <a:p>
            <a:pPr>
              <a:defRPr/>
            </a:pPr>
            <a:fld id="{AAFC9A1D-E715-4FF0-BABF-4724B2795EE9}" type="slidenum">
              <a:rPr lang="en-IN" smtClean="0"/>
              <a:pPr>
                <a:defRPr/>
              </a:pPr>
              <a:t>10</a:t>
            </a:fld>
            <a:endParaRPr lang="en-IN"/>
          </a:p>
        </p:txBody>
      </p:sp>
      <p:sp>
        <p:nvSpPr>
          <p:cNvPr id="6" name="Rectangle 1">
            <a:extLst>
              <a:ext uri="{FF2B5EF4-FFF2-40B4-BE49-F238E27FC236}">
                <a16:creationId xmlns:a16="http://schemas.microsoft.com/office/drawing/2014/main" id="{8A037200-FAF3-125B-786B-9988ADBE530A}"/>
              </a:ext>
            </a:extLst>
          </p:cNvPr>
          <p:cNvSpPr>
            <a:spLocks noGrp="1" noChangeArrowheads="1"/>
          </p:cNvSpPr>
          <p:nvPr>
            <p:ph idx="1"/>
          </p:nvPr>
        </p:nvSpPr>
        <p:spPr bwMode="auto">
          <a:xfrm>
            <a:off x="875070" y="1783840"/>
            <a:ext cx="10419736" cy="2343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hangingPunct="0">
              <a:lnSpc>
                <a:spcPct val="150000"/>
              </a:lnSpc>
              <a:spcBef>
                <a:spcPct val="0"/>
              </a:spcBef>
              <a:buNone/>
            </a:pPr>
            <a:r>
              <a:rPr lang="en-US" altLang="en-US" sz="2000" dirty="0">
                <a:latin typeface="Arial" panose="020B0604020202020204" pitchFamily="34" charset="0"/>
              </a:rPr>
              <a:t>1.  To design 6T SRAM cell at transistor level.</a:t>
            </a:r>
          </a:p>
          <a:p>
            <a:pPr marL="0" lvl="0" indent="0" eaLnBrk="0" hangingPunct="0">
              <a:lnSpc>
                <a:spcPct val="150000"/>
              </a:lnSpc>
              <a:spcBef>
                <a:spcPct val="0"/>
              </a:spcBef>
              <a:buNone/>
            </a:pPr>
            <a:r>
              <a:rPr lang="en-US" altLang="en-US" sz="2000" dirty="0">
                <a:latin typeface="Arial" panose="020B0604020202020204" pitchFamily="34" charset="0"/>
              </a:rPr>
              <a:t>2.  To implement the layout of a single 6T SRAM cell.</a:t>
            </a:r>
          </a:p>
          <a:p>
            <a:pPr marL="0" lvl="0" indent="0" eaLnBrk="0" hangingPunct="0">
              <a:lnSpc>
                <a:spcPct val="150000"/>
              </a:lnSpc>
              <a:spcBef>
                <a:spcPct val="0"/>
              </a:spcBef>
              <a:buNone/>
            </a:pPr>
            <a:r>
              <a:rPr lang="en-US" altLang="en-US" sz="2000" dirty="0">
                <a:latin typeface="Arial" panose="020B0604020202020204" pitchFamily="34" charset="0"/>
              </a:rPr>
              <a:t>3.  To perform schematic simulation of an 8-bit SRAM.</a:t>
            </a:r>
          </a:p>
          <a:p>
            <a:pPr marL="0" lvl="0" indent="0" eaLnBrk="0" hangingPunct="0">
              <a:lnSpc>
                <a:spcPct val="150000"/>
              </a:lnSpc>
              <a:spcBef>
                <a:spcPct val="0"/>
              </a:spcBef>
              <a:buNone/>
            </a:pPr>
            <a:r>
              <a:rPr lang="en-US" altLang="en-US" sz="2000" dirty="0">
                <a:latin typeface="Arial" panose="020B0604020202020204" pitchFamily="34" charset="0"/>
              </a:rPr>
              <a:t>4.  To extract parasitic parameters and carry out post-layout simulation.</a:t>
            </a:r>
          </a:p>
          <a:p>
            <a:pPr marL="0" lvl="0" indent="0" eaLnBrk="0" hangingPunct="0">
              <a:lnSpc>
                <a:spcPct val="150000"/>
              </a:lnSpc>
              <a:spcBef>
                <a:spcPct val="0"/>
              </a:spcBef>
              <a:buNone/>
            </a:pPr>
            <a:r>
              <a:rPr lang="en-US" altLang="en-US" sz="2000" dirty="0">
                <a:latin typeface="Arial" panose="020B0604020202020204" pitchFamily="34" charset="0"/>
              </a:rPr>
              <a:t>5.  To evaluate key SRAM performance metrics.</a:t>
            </a:r>
            <a:endParaRPr kumimoji="0" lang="en-US" altLang="en-US" sz="200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145747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0EB958-6276-58DD-358B-0BA95CA6E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6D63E5-A19F-EA26-C1CC-3147ED72492F}"/>
              </a:ext>
            </a:extLst>
          </p:cNvPr>
          <p:cNvSpPr>
            <a:spLocks noGrp="1"/>
          </p:cNvSpPr>
          <p:nvPr>
            <p:ph type="title"/>
          </p:nvPr>
        </p:nvSpPr>
        <p:spPr>
          <a:xfrm>
            <a:off x="239239" y="1172934"/>
            <a:ext cx="10685206" cy="594519"/>
          </a:xfrm>
        </p:spPr>
        <p:txBody>
          <a:bodyPr/>
          <a:lstStyle/>
          <a:p>
            <a:r>
              <a:rPr lang="en-US" dirty="0"/>
              <a:t>Methodology</a:t>
            </a:r>
            <a:endParaRPr lang="en-IN" dirty="0"/>
          </a:p>
        </p:txBody>
      </p:sp>
      <p:sp>
        <p:nvSpPr>
          <p:cNvPr id="4" name="Date Placeholder 3">
            <a:extLst>
              <a:ext uri="{FF2B5EF4-FFF2-40B4-BE49-F238E27FC236}">
                <a16:creationId xmlns:a16="http://schemas.microsoft.com/office/drawing/2014/main" id="{20ACC3AC-C432-724C-1016-5698E493E27E}"/>
              </a:ext>
            </a:extLst>
          </p:cNvPr>
          <p:cNvSpPr>
            <a:spLocks noGrp="1"/>
          </p:cNvSpPr>
          <p:nvPr>
            <p:ph type="dt" sz="half" idx="10"/>
          </p:nvPr>
        </p:nvSpPr>
        <p:spPr/>
        <p:txBody>
          <a:bodyPr/>
          <a:lstStyle/>
          <a:p>
            <a:pPr>
              <a:defRPr/>
            </a:pPr>
            <a:fld id="{9FCC6B52-9971-410F-B970-172C9ABC021C}" type="datetime8">
              <a:rPr lang="en-IN" smtClean="0"/>
              <a:t>06-05-2026 14:35</a:t>
            </a:fld>
            <a:endParaRPr lang="en-IN" dirty="0"/>
          </a:p>
        </p:txBody>
      </p:sp>
      <p:sp>
        <p:nvSpPr>
          <p:cNvPr id="5" name="Slide Number Placeholder 4">
            <a:extLst>
              <a:ext uri="{FF2B5EF4-FFF2-40B4-BE49-F238E27FC236}">
                <a16:creationId xmlns:a16="http://schemas.microsoft.com/office/drawing/2014/main" id="{F5FE752D-EBE7-DD9F-E40C-03E8E3999DDF}"/>
              </a:ext>
            </a:extLst>
          </p:cNvPr>
          <p:cNvSpPr>
            <a:spLocks noGrp="1"/>
          </p:cNvSpPr>
          <p:nvPr>
            <p:ph type="sldNum" sz="quarter" idx="12"/>
          </p:nvPr>
        </p:nvSpPr>
        <p:spPr/>
        <p:txBody>
          <a:bodyPr/>
          <a:lstStyle/>
          <a:p>
            <a:pPr>
              <a:defRPr/>
            </a:pPr>
            <a:fld id="{AAFC9A1D-E715-4FF0-BABF-4724B2795EE9}" type="slidenum">
              <a:rPr lang="en-IN" smtClean="0"/>
              <a:pPr>
                <a:defRPr/>
              </a:pPr>
              <a:t>11</a:t>
            </a:fld>
            <a:endParaRPr lang="en-IN"/>
          </a:p>
        </p:txBody>
      </p:sp>
      <p:sp>
        <p:nvSpPr>
          <p:cNvPr id="7" name="Rectangle 2">
            <a:extLst>
              <a:ext uri="{FF2B5EF4-FFF2-40B4-BE49-F238E27FC236}">
                <a16:creationId xmlns:a16="http://schemas.microsoft.com/office/drawing/2014/main" id="{F283369A-57DF-7A64-E37C-85D8F77D9A9E}"/>
              </a:ext>
            </a:extLst>
          </p:cNvPr>
          <p:cNvSpPr>
            <a:spLocks noGrp="1" noChangeArrowheads="1"/>
          </p:cNvSpPr>
          <p:nvPr>
            <p:ph idx="1"/>
          </p:nvPr>
        </p:nvSpPr>
        <p:spPr bwMode="auto">
          <a:xfrm>
            <a:off x="401164" y="1791831"/>
            <a:ext cx="11713522" cy="67813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algn="just" eaLnBrk="0" hangingPunct="0">
              <a:lnSpc>
                <a:spcPct val="150000"/>
              </a:lnSpc>
              <a:spcBef>
                <a:spcPct val="0"/>
              </a:spcBef>
              <a:buNone/>
            </a:pPr>
            <a:r>
              <a:rPr lang="da-DK" sz="1800" dirty="0">
                <a:solidFill>
                  <a:srgbClr val="FF0000"/>
                </a:solidFill>
              </a:rPr>
              <a:t>Paper 1 – K. Agarwal et al. (2020)</a:t>
            </a:r>
          </a:p>
          <a:p>
            <a:pPr marL="0" lvl="0" indent="0" algn="just" eaLnBrk="0" hangingPunct="0">
              <a:lnSpc>
                <a:spcPct val="150000"/>
              </a:lnSpc>
              <a:spcBef>
                <a:spcPct val="0"/>
              </a:spcBef>
              <a:buNone/>
            </a:pPr>
            <a:r>
              <a:rPr lang="en-US" sz="2000" dirty="0"/>
              <a:t>The proposed methodology investigates the behavior of a CMOS-based 6T SRAM cell across multiple technology nodes by performing detailed simulations on power consumption, propagation delay, and Static Noise Margin (SNM). Advanced CMOS scaling techniques and stability analysis are used to evaluate SRAM performance under different operating conditions.</a:t>
            </a:r>
          </a:p>
          <a:p>
            <a:pPr marL="0" lvl="0" indent="0" algn="just" eaLnBrk="0" hangingPunct="0">
              <a:lnSpc>
                <a:spcPct val="150000"/>
              </a:lnSpc>
              <a:spcBef>
                <a:spcPct val="0"/>
              </a:spcBef>
              <a:buNone/>
            </a:pPr>
            <a:r>
              <a:rPr lang="en-IN" sz="1800" dirty="0">
                <a:solidFill>
                  <a:srgbClr val="FF0000"/>
                </a:solidFill>
              </a:rPr>
              <a:t>Paper 2 – Anirban Kar et al. (2025)</a:t>
            </a:r>
          </a:p>
          <a:p>
            <a:pPr marL="0" lvl="0" indent="0" algn="just" eaLnBrk="0" hangingPunct="0">
              <a:lnSpc>
                <a:spcPct val="150000"/>
              </a:lnSpc>
              <a:spcBef>
                <a:spcPct val="0"/>
              </a:spcBef>
              <a:buNone/>
            </a:pPr>
            <a:r>
              <a:rPr lang="en-US" sz="2000" dirty="0"/>
              <a:t>This work implements a high-performance 6T SRAM architecture using advanced Sub-3nm Complementary FET (CFET) technology. The methodology focuses on enhancing memory density, improving scalability, and optimizing transistor stacking techniques to achieve higher efficiency and reduced leakage power.</a:t>
            </a:r>
            <a:endParaRPr lang="en-IN" sz="2000" dirty="0">
              <a:solidFill>
                <a:srgbClr val="FF0000"/>
              </a:solidFill>
            </a:endParaRPr>
          </a:p>
          <a:p>
            <a:pPr marL="0" lvl="0" indent="0" algn="just" eaLnBrk="0" hangingPunct="0">
              <a:lnSpc>
                <a:spcPct val="150000"/>
              </a:lnSpc>
              <a:spcBef>
                <a:spcPct val="0"/>
              </a:spcBef>
              <a:buNone/>
            </a:pPr>
            <a:endParaRPr lang="en-US" sz="1800" dirty="0">
              <a:solidFill>
                <a:srgbClr val="FF0000"/>
              </a:solidFill>
            </a:endParaRPr>
          </a:p>
          <a:p>
            <a:pPr marL="0" lvl="0" indent="0" algn="just" eaLnBrk="0" hangingPunct="0">
              <a:lnSpc>
                <a:spcPct val="150000"/>
              </a:lnSpc>
              <a:spcBef>
                <a:spcPct val="0"/>
              </a:spcBef>
              <a:buNone/>
            </a:pPr>
            <a:endParaRPr lang="en-US" sz="2000" dirty="0"/>
          </a:p>
          <a:p>
            <a:pPr marL="0" lvl="0" indent="0" algn="just" eaLnBrk="0" hangingPunct="0">
              <a:lnSpc>
                <a:spcPct val="150000"/>
              </a:lnSpc>
              <a:spcBef>
                <a:spcPct val="0"/>
              </a:spcBef>
              <a:buNone/>
            </a:pPr>
            <a:endParaRPr lang="en-US" sz="2000" dirty="0"/>
          </a:p>
          <a:p>
            <a:pPr marL="0" lvl="0" indent="0" algn="just" eaLnBrk="0" hangingPunct="0">
              <a:lnSpc>
                <a:spcPct val="150000"/>
              </a:lnSpc>
              <a:spcBef>
                <a:spcPct val="0"/>
              </a:spcBef>
              <a:buNone/>
            </a:pPr>
            <a:endParaRPr lang="en-US" sz="2000" dirty="0"/>
          </a:p>
          <a:p>
            <a:pPr marL="0" lvl="0" indent="0" algn="just" eaLnBrk="0" hangingPunct="0">
              <a:lnSpc>
                <a:spcPct val="150000"/>
              </a:lnSpc>
              <a:spcBef>
                <a:spcPct val="0"/>
              </a:spcBef>
              <a:buNone/>
            </a:pPr>
            <a:endParaRPr lang="da-DK" sz="2000" dirty="0"/>
          </a:p>
          <a:p>
            <a:pPr marL="342900" lvl="0" indent="-342900" algn="just" eaLnBrk="0" hangingPunct="0">
              <a:lnSpc>
                <a:spcPct val="150000"/>
              </a:lnSpc>
              <a:spcBef>
                <a:spcPct val="0"/>
              </a:spcBef>
              <a:buFont typeface="+mj-lt"/>
              <a:buAutoNum type="arabicPeriod"/>
            </a:pPr>
            <a:endParaRPr kumimoji="0" lang="en-US" altLang="en-US" sz="180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198182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9EC39C5-A0F9-981A-B8C6-6A430E5F55BD}"/>
              </a:ext>
            </a:extLst>
          </p:cNvPr>
          <p:cNvSpPr>
            <a:spLocks noGrp="1"/>
          </p:cNvSpPr>
          <p:nvPr>
            <p:ph type="dt" sz="half" idx="10"/>
          </p:nvPr>
        </p:nvSpPr>
        <p:spPr/>
        <p:txBody>
          <a:bodyPr/>
          <a:lstStyle/>
          <a:p>
            <a:pPr>
              <a:defRPr/>
            </a:pPr>
            <a:fld id="{9FCC6B52-9971-410F-B970-172C9ABC021C}" type="datetime8">
              <a:rPr lang="en-IN" smtClean="0"/>
              <a:t>06-05-2026 14:01</a:t>
            </a:fld>
            <a:endParaRPr lang="en-IN" dirty="0"/>
          </a:p>
        </p:txBody>
      </p:sp>
      <p:sp>
        <p:nvSpPr>
          <p:cNvPr id="5" name="Slide Number Placeholder 4">
            <a:extLst>
              <a:ext uri="{FF2B5EF4-FFF2-40B4-BE49-F238E27FC236}">
                <a16:creationId xmlns:a16="http://schemas.microsoft.com/office/drawing/2014/main" id="{38FB7C8D-3F5E-D58E-2AE3-6E797D9B01E3}"/>
              </a:ext>
            </a:extLst>
          </p:cNvPr>
          <p:cNvSpPr>
            <a:spLocks noGrp="1"/>
          </p:cNvSpPr>
          <p:nvPr>
            <p:ph type="sldNum" sz="quarter" idx="12"/>
          </p:nvPr>
        </p:nvSpPr>
        <p:spPr/>
        <p:txBody>
          <a:bodyPr/>
          <a:lstStyle/>
          <a:p>
            <a:pPr>
              <a:defRPr/>
            </a:pPr>
            <a:fld id="{AAFC9A1D-E715-4FF0-BABF-4724B2795EE9}" type="slidenum">
              <a:rPr lang="en-IN" smtClean="0"/>
              <a:pPr>
                <a:defRPr/>
              </a:pPr>
              <a:t>12</a:t>
            </a:fld>
            <a:endParaRPr lang="en-IN"/>
          </a:p>
        </p:txBody>
      </p:sp>
      <p:sp>
        <p:nvSpPr>
          <p:cNvPr id="7" name="Rectangle 2">
            <a:extLst>
              <a:ext uri="{FF2B5EF4-FFF2-40B4-BE49-F238E27FC236}">
                <a16:creationId xmlns:a16="http://schemas.microsoft.com/office/drawing/2014/main" id="{FA338677-08AE-3F95-DAC5-3B7D5F6E1293}"/>
              </a:ext>
            </a:extLst>
          </p:cNvPr>
          <p:cNvSpPr>
            <a:spLocks noGrp="1" noChangeArrowheads="1"/>
          </p:cNvSpPr>
          <p:nvPr>
            <p:ph idx="1"/>
          </p:nvPr>
        </p:nvSpPr>
        <p:spPr bwMode="auto">
          <a:xfrm>
            <a:off x="373703" y="1616767"/>
            <a:ext cx="11444594" cy="40575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algn="just" eaLnBrk="0" hangingPunct="0">
              <a:lnSpc>
                <a:spcPct val="150000"/>
              </a:lnSpc>
              <a:spcBef>
                <a:spcPct val="0"/>
              </a:spcBef>
              <a:buNone/>
            </a:pPr>
            <a:r>
              <a:rPr lang="en-IN" sz="1800" dirty="0">
                <a:solidFill>
                  <a:srgbClr val="FF0000"/>
                </a:solidFill>
              </a:rPr>
              <a:t>Paper 3 – Prince Kumar Pandey et al. (2021)</a:t>
            </a:r>
          </a:p>
          <a:p>
            <a:pPr marL="0" lvl="0" indent="0" algn="just" eaLnBrk="0" hangingPunct="0">
              <a:lnSpc>
                <a:spcPct val="150000"/>
              </a:lnSpc>
              <a:spcBef>
                <a:spcPct val="0"/>
              </a:spcBef>
              <a:buNone/>
            </a:pPr>
            <a:r>
              <a:rPr lang="en-US" sz="2000" dirty="0"/>
              <a:t>The paper adopts a parametric evaluation methodology for analyzing 6T SRAM cell characteristics. It systematically studies parameters such as Static Noise Margin (SNM), read/write stability, delay, and power dissipation using simulation-based performance analysis under varying operating conditions.</a:t>
            </a:r>
          </a:p>
          <a:p>
            <a:pPr marL="0" lvl="0" indent="0" algn="just" eaLnBrk="0" hangingPunct="0">
              <a:lnSpc>
                <a:spcPct val="150000"/>
              </a:lnSpc>
              <a:spcBef>
                <a:spcPct val="0"/>
              </a:spcBef>
              <a:buNone/>
            </a:pPr>
            <a:r>
              <a:rPr lang="en-IN" sz="1800" dirty="0">
                <a:solidFill>
                  <a:srgbClr val="FF0000"/>
                </a:solidFill>
              </a:rPr>
              <a:t>Paper 4 – T. Kalpana et al. (2024)</a:t>
            </a:r>
          </a:p>
          <a:p>
            <a:pPr marL="0" lvl="0" indent="0" algn="just" eaLnBrk="0" hangingPunct="0">
              <a:lnSpc>
                <a:spcPct val="150000"/>
              </a:lnSpc>
              <a:spcBef>
                <a:spcPct val="0"/>
              </a:spcBef>
              <a:buNone/>
            </a:pPr>
            <a:r>
              <a:rPr lang="en-US" sz="2000" dirty="0"/>
              <a:t>The methodology involves the design and comparative analysis of a low-voltage 6T SRAM cell using 90nm and 45nm CMOS technologies. Simulation tools are used to evaluate voltage scaling effects, leakage current, power optimization, and stability performance for low-power memory applications.</a:t>
            </a:r>
            <a:endParaRPr lang="en-US" sz="2000" dirty="0">
              <a:solidFill>
                <a:srgbClr val="FF0000"/>
              </a:solidFill>
            </a:endParaRPr>
          </a:p>
          <a:p>
            <a:pPr marL="0" lvl="0" indent="0" algn="just" eaLnBrk="0" hangingPunct="0">
              <a:lnSpc>
                <a:spcPct val="150000"/>
              </a:lnSpc>
              <a:spcBef>
                <a:spcPct val="0"/>
              </a:spcBef>
              <a:buNone/>
            </a:pPr>
            <a:endParaRPr kumimoji="0" lang="en-US" altLang="en-US" sz="180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818343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C03C9-0351-2B05-1289-8741E55E31EF}"/>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942D27B2-FA6A-82A8-C238-8F1C0E0E0B33}"/>
              </a:ext>
            </a:extLst>
          </p:cNvPr>
          <p:cNvSpPr>
            <a:spLocks noGrp="1"/>
          </p:cNvSpPr>
          <p:nvPr>
            <p:ph type="dt" sz="half" idx="10"/>
          </p:nvPr>
        </p:nvSpPr>
        <p:spPr/>
        <p:txBody>
          <a:bodyPr/>
          <a:lstStyle/>
          <a:p>
            <a:pPr>
              <a:defRPr/>
            </a:pPr>
            <a:fld id="{9FCC6B52-9971-410F-B970-172C9ABC021C}" type="datetime8">
              <a:rPr lang="en-IN" smtClean="0"/>
              <a:t>06-05-2026 14:40</a:t>
            </a:fld>
            <a:endParaRPr lang="en-IN" dirty="0"/>
          </a:p>
        </p:txBody>
      </p:sp>
      <p:sp>
        <p:nvSpPr>
          <p:cNvPr id="5" name="Slide Number Placeholder 4">
            <a:extLst>
              <a:ext uri="{FF2B5EF4-FFF2-40B4-BE49-F238E27FC236}">
                <a16:creationId xmlns:a16="http://schemas.microsoft.com/office/drawing/2014/main" id="{E2103BFA-69F2-96F2-910C-486BA2830C59}"/>
              </a:ext>
            </a:extLst>
          </p:cNvPr>
          <p:cNvSpPr>
            <a:spLocks noGrp="1"/>
          </p:cNvSpPr>
          <p:nvPr>
            <p:ph type="sldNum" sz="quarter" idx="12"/>
          </p:nvPr>
        </p:nvSpPr>
        <p:spPr/>
        <p:txBody>
          <a:bodyPr/>
          <a:lstStyle/>
          <a:p>
            <a:pPr>
              <a:defRPr/>
            </a:pPr>
            <a:fld id="{AAFC9A1D-E715-4FF0-BABF-4724B2795EE9}" type="slidenum">
              <a:rPr lang="en-IN" smtClean="0"/>
              <a:pPr>
                <a:defRPr/>
              </a:pPr>
              <a:t>13</a:t>
            </a:fld>
            <a:endParaRPr lang="en-IN"/>
          </a:p>
        </p:txBody>
      </p:sp>
      <p:graphicFrame>
        <p:nvGraphicFramePr>
          <p:cNvPr id="2" name="Content Placeholder 1">
            <a:extLst>
              <a:ext uri="{FF2B5EF4-FFF2-40B4-BE49-F238E27FC236}">
                <a16:creationId xmlns:a16="http://schemas.microsoft.com/office/drawing/2014/main" id="{91C5D9F2-E0E1-9020-DA1E-3A9E6A88A5E8}"/>
              </a:ext>
            </a:extLst>
          </p:cNvPr>
          <p:cNvGraphicFramePr>
            <a:graphicFrameLocks noGrp="1"/>
          </p:cNvGraphicFramePr>
          <p:nvPr>
            <p:ph idx="1"/>
            <p:extLst>
              <p:ext uri="{D42A27DB-BD31-4B8C-83A1-F6EECF244321}">
                <p14:modId xmlns:p14="http://schemas.microsoft.com/office/powerpoint/2010/main" val="2740195912"/>
              </p:ext>
            </p:extLst>
          </p:nvPr>
        </p:nvGraphicFramePr>
        <p:xfrm>
          <a:off x="752475" y="1989614"/>
          <a:ext cx="10467975" cy="1828800"/>
        </p:xfrm>
        <a:graphic>
          <a:graphicData uri="http://schemas.openxmlformats.org/drawingml/2006/table">
            <a:tbl>
              <a:tblPr/>
              <a:tblGrid>
                <a:gridCol w="10467975">
                  <a:extLst>
                    <a:ext uri="{9D8B030D-6E8A-4147-A177-3AD203B41FA5}">
                      <a16:colId xmlns:a16="http://schemas.microsoft.com/office/drawing/2014/main" val="2690394159"/>
                    </a:ext>
                  </a:extLst>
                </a:gridCol>
              </a:tblGrid>
              <a:tr h="0">
                <a:tc>
                  <a:txBody>
                    <a:bodyPr/>
                    <a:lstStyle/>
                    <a:p>
                      <a:pPr>
                        <a:buNone/>
                      </a:pPr>
                      <a:r>
                        <a:rPr lang="en-IN" b="1" dirty="0">
                          <a:solidFill>
                            <a:srgbClr val="FF0000"/>
                          </a:solidFill>
                        </a:rPr>
                        <a:t>Paper 5 – Tushar Singh et al. (2023)</a:t>
                      </a:r>
                    </a:p>
                    <a:p>
                      <a:pPr>
                        <a:buNone/>
                      </a:pPr>
                      <a:endParaRPr lang="en-IN" b="1" dirty="0"/>
                    </a:p>
                    <a:p>
                      <a:pPr algn="l">
                        <a:buNone/>
                      </a:pPr>
                      <a:r>
                        <a:rPr lang="en-US" sz="2000" dirty="0"/>
                        <a:t>This paper proposes a scalable 6T SRAM architecture integrated with a 64×64 memory array. The methodology includes array-level performance evaluation, optimization of power efficiency, and analysis of large-scale memory operations using advanced SRAM design and simulation techniques.</a:t>
                      </a:r>
                      <a:endParaRPr lang="en-IN" sz="2000" b="1" dirty="0"/>
                    </a:p>
                    <a:p>
                      <a:pPr>
                        <a:buNone/>
                      </a:pPr>
                      <a:endParaRPr lang="en-IN" dirty="0"/>
                    </a:p>
                  </a:txBody>
                  <a:tcPr anchor="ctr">
                    <a:lnL>
                      <a:noFill/>
                    </a:lnL>
                    <a:lnR>
                      <a:noFill/>
                    </a:lnR>
                    <a:lnT>
                      <a:noFill/>
                    </a:lnT>
                    <a:lnB>
                      <a:noFill/>
                    </a:lnB>
                    <a:noFill/>
                  </a:tcPr>
                </a:tc>
                <a:extLst>
                  <a:ext uri="{0D108BD9-81ED-4DB2-BD59-A6C34878D82A}">
                    <a16:rowId xmlns:a16="http://schemas.microsoft.com/office/drawing/2014/main" val="3228638608"/>
                  </a:ext>
                </a:extLst>
              </a:tr>
            </a:tbl>
          </a:graphicData>
        </a:graphic>
      </p:graphicFrame>
      <p:graphicFrame>
        <p:nvGraphicFramePr>
          <p:cNvPr id="3" name="Table 2">
            <a:extLst>
              <a:ext uri="{FF2B5EF4-FFF2-40B4-BE49-F238E27FC236}">
                <a16:creationId xmlns:a16="http://schemas.microsoft.com/office/drawing/2014/main" id="{8D45E0C8-F1EC-5D70-4765-EF4C6EE21267}"/>
              </a:ext>
            </a:extLst>
          </p:cNvPr>
          <p:cNvGraphicFramePr>
            <a:graphicFrameLocks noGrp="1"/>
          </p:cNvGraphicFramePr>
          <p:nvPr/>
        </p:nvGraphicFramePr>
        <p:xfrm>
          <a:off x="838200" y="3818414"/>
          <a:ext cx="10515600" cy="365760"/>
        </p:xfrm>
        <a:graphic>
          <a:graphicData uri="http://schemas.openxmlformats.org/drawingml/2006/table">
            <a:tbl>
              <a:tblPr/>
              <a:tblGrid>
                <a:gridCol w="10515600">
                  <a:extLst>
                    <a:ext uri="{9D8B030D-6E8A-4147-A177-3AD203B41FA5}">
                      <a16:colId xmlns:a16="http://schemas.microsoft.com/office/drawing/2014/main" val="485250122"/>
                    </a:ext>
                  </a:extLst>
                </a:gridCol>
              </a:tblGrid>
              <a:tr h="0">
                <a:tc>
                  <a:txBody>
                    <a:bodyPr/>
                    <a:lstStyle/>
                    <a:p>
                      <a:pPr>
                        <a:buNone/>
                      </a:pPr>
                      <a:endParaRPr lang="en-IN" dirty="0"/>
                    </a:p>
                  </a:txBody>
                  <a:tcPr anchor="ctr">
                    <a:lnL>
                      <a:noFill/>
                    </a:lnL>
                    <a:lnR>
                      <a:noFill/>
                    </a:lnR>
                    <a:lnT>
                      <a:noFill/>
                    </a:lnT>
                    <a:lnB>
                      <a:noFill/>
                    </a:lnB>
                    <a:noFill/>
                  </a:tcPr>
                </a:tc>
                <a:extLst>
                  <a:ext uri="{0D108BD9-81ED-4DB2-BD59-A6C34878D82A}">
                    <a16:rowId xmlns:a16="http://schemas.microsoft.com/office/drawing/2014/main" val="212501686"/>
                  </a:ext>
                </a:extLst>
              </a:tr>
            </a:tbl>
          </a:graphicData>
        </a:graphic>
      </p:graphicFrame>
    </p:spTree>
    <p:extLst>
      <p:ext uri="{BB962C8B-B14F-4D97-AF65-F5344CB8AC3E}">
        <p14:creationId xmlns:p14="http://schemas.microsoft.com/office/powerpoint/2010/main" val="24408784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87998B-7FD1-19F8-E2EF-215DCF3D19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F29567-3D17-3574-2026-1F928D4F89A8}"/>
              </a:ext>
            </a:extLst>
          </p:cNvPr>
          <p:cNvSpPr>
            <a:spLocks noGrp="1"/>
          </p:cNvSpPr>
          <p:nvPr>
            <p:ph type="title"/>
          </p:nvPr>
        </p:nvSpPr>
        <p:spPr/>
        <p:txBody>
          <a:bodyPr/>
          <a:lstStyle/>
          <a:p>
            <a:r>
              <a:rPr lang="en-IN" dirty="0"/>
              <a:t>Flowchart</a:t>
            </a:r>
            <a:endParaRPr lang="en-US" dirty="0"/>
          </a:p>
        </p:txBody>
      </p:sp>
      <p:sp>
        <p:nvSpPr>
          <p:cNvPr id="4" name="Date Placeholder 3">
            <a:extLst>
              <a:ext uri="{FF2B5EF4-FFF2-40B4-BE49-F238E27FC236}">
                <a16:creationId xmlns:a16="http://schemas.microsoft.com/office/drawing/2014/main" id="{9832DEB4-FD8D-D73A-6212-C0E5B3D7A680}"/>
              </a:ext>
            </a:extLst>
          </p:cNvPr>
          <p:cNvSpPr>
            <a:spLocks noGrp="1"/>
          </p:cNvSpPr>
          <p:nvPr>
            <p:ph type="dt" sz="half" idx="10"/>
          </p:nvPr>
        </p:nvSpPr>
        <p:spPr/>
        <p:txBody>
          <a:bodyPr/>
          <a:lstStyle/>
          <a:p>
            <a:pPr>
              <a:defRPr/>
            </a:pPr>
            <a:fld id="{FBCDA997-13C2-4B68-B396-A02EB639DB86}" type="datetime8">
              <a:rPr lang="en-IN" smtClean="0"/>
              <a:t>06-05-2026 14:01</a:t>
            </a:fld>
            <a:endParaRPr lang="en-IN"/>
          </a:p>
        </p:txBody>
      </p:sp>
      <p:sp>
        <p:nvSpPr>
          <p:cNvPr id="5" name="Slide Number Placeholder 4">
            <a:extLst>
              <a:ext uri="{FF2B5EF4-FFF2-40B4-BE49-F238E27FC236}">
                <a16:creationId xmlns:a16="http://schemas.microsoft.com/office/drawing/2014/main" id="{5BF1D4FF-5D79-C247-94F2-ED7A42A45E8D}"/>
              </a:ext>
            </a:extLst>
          </p:cNvPr>
          <p:cNvSpPr>
            <a:spLocks noGrp="1"/>
          </p:cNvSpPr>
          <p:nvPr>
            <p:ph type="sldNum" sz="quarter" idx="12"/>
          </p:nvPr>
        </p:nvSpPr>
        <p:spPr/>
        <p:txBody>
          <a:bodyPr/>
          <a:lstStyle/>
          <a:p>
            <a:pPr>
              <a:defRPr/>
            </a:pPr>
            <a:fld id="{AAFC9A1D-E715-4FF0-BABF-4724B2795EE9}" type="slidenum">
              <a:rPr lang="en-IN" smtClean="0"/>
              <a:pPr>
                <a:defRPr/>
              </a:pPr>
              <a:t>14</a:t>
            </a:fld>
            <a:endParaRPr lang="en-IN"/>
          </a:p>
        </p:txBody>
      </p:sp>
      <p:pic>
        <p:nvPicPr>
          <p:cNvPr id="9" name="Content Placeholder 8">
            <a:extLst>
              <a:ext uri="{FF2B5EF4-FFF2-40B4-BE49-F238E27FC236}">
                <a16:creationId xmlns:a16="http://schemas.microsoft.com/office/drawing/2014/main" id="{299254DB-2BCC-BBFC-D4A1-25459DB65E04}"/>
              </a:ext>
            </a:extLst>
          </p:cNvPr>
          <p:cNvPicPr>
            <a:picLocks noGrp="1" noChangeAspect="1"/>
          </p:cNvPicPr>
          <p:nvPr>
            <p:ph idx="1"/>
          </p:nvPr>
        </p:nvPicPr>
        <p:blipFill>
          <a:blip r:embed="rId2"/>
          <a:stretch>
            <a:fillRect/>
          </a:stretch>
        </p:blipFill>
        <p:spPr bwMode="auto">
          <a:xfrm>
            <a:off x="1686232" y="1783839"/>
            <a:ext cx="8819535" cy="428916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37618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BD365-0AE5-4088-8258-77BBDEEF84C2}"/>
              </a:ext>
            </a:extLst>
          </p:cNvPr>
          <p:cNvSpPr>
            <a:spLocks noGrp="1"/>
          </p:cNvSpPr>
          <p:nvPr>
            <p:ph type="title"/>
          </p:nvPr>
        </p:nvSpPr>
        <p:spPr/>
        <p:txBody>
          <a:bodyPr/>
          <a:lstStyle/>
          <a:p>
            <a:r>
              <a:rPr lang="en-US" dirty="0"/>
              <a:t>Results</a:t>
            </a:r>
          </a:p>
        </p:txBody>
      </p:sp>
      <p:sp>
        <p:nvSpPr>
          <p:cNvPr id="4" name="Date Placeholder 3">
            <a:extLst>
              <a:ext uri="{FF2B5EF4-FFF2-40B4-BE49-F238E27FC236}">
                <a16:creationId xmlns:a16="http://schemas.microsoft.com/office/drawing/2014/main" id="{89EDDD46-605A-4382-98A7-41CEA72BBBBA}"/>
              </a:ext>
            </a:extLst>
          </p:cNvPr>
          <p:cNvSpPr>
            <a:spLocks noGrp="1"/>
          </p:cNvSpPr>
          <p:nvPr>
            <p:ph type="dt" sz="half" idx="10"/>
          </p:nvPr>
        </p:nvSpPr>
        <p:spPr/>
        <p:txBody>
          <a:bodyPr/>
          <a:lstStyle/>
          <a:p>
            <a:pPr>
              <a:defRPr/>
            </a:pPr>
            <a:fld id="{FBCDA997-13C2-4B68-B396-A02EB639DB86}" type="datetime8">
              <a:rPr lang="en-IN" smtClean="0"/>
              <a:t>06-05-2026 14:01</a:t>
            </a:fld>
            <a:endParaRPr lang="en-IN"/>
          </a:p>
        </p:txBody>
      </p:sp>
      <p:sp>
        <p:nvSpPr>
          <p:cNvPr id="5" name="Slide Number Placeholder 4">
            <a:extLst>
              <a:ext uri="{FF2B5EF4-FFF2-40B4-BE49-F238E27FC236}">
                <a16:creationId xmlns:a16="http://schemas.microsoft.com/office/drawing/2014/main" id="{9C30FC3F-58D5-4F5F-BAB3-2EAD02F984BA}"/>
              </a:ext>
            </a:extLst>
          </p:cNvPr>
          <p:cNvSpPr>
            <a:spLocks noGrp="1"/>
          </p:cNvSpPr>
          <p:nvPr>
            <p:ph type="sldNum" sz="quarter" idx="12"/>
          </p:nvPr>
        </p:nvSpPr>
        <p:spPr/>
        <p:txBody>
          <a:bodyPr/>
          <a:lstStyle/>
          <a:p>
            <a:pPr>
              <a:defRPr/>
            </a:pPr>
            <a:fld id="{AAFC9A1D-E715-4FF0-BABF-4724B2795EE9}" type="slidenum">
              <a:rPr lang="en-IN" smtClean="0"/>
              <a:pPr>
                <a:defRPr/>
              </a:pPr>
              <a:t>15</a:t>
            </a:fld>
            <a:endParaRPr lang="en-IN"/>
          </a:p>
        </p:txBody>
      </p:sp>
      <p:pic>
        <p:nvPicPr>
          <p:cNvPr id="3" name="Content Placeholder 2">
            <a:extLst>
              <a:ext uri="{FF2B5EF4-FFF2-40B4-BE49-F238E27FC236}">
                <a16:creationId xmlns:a16="http://schemas.microsoft.com/office/drawing/2014/main" id="{571349D8-42C5-8A3A-FF4E-B3474BD4CBB3}"/>
              </a:ext>
            </a:extLst>
          </p:cNvPr>
          <p:cNvPicPr>
            <a:picLocks noGrp="1" noChangeAspect="1"/>
          </p:cNvPicPr>
          <p:nvPr>
            <p:ph idx="1"/>
          </p:nvPr>
        </p:nvPicPr>
        <p:blipFill>
          <a:blip r:embed="rId2"/>
          <a:stretch>
            <a:fillRect/>
          </a:stretch>
        </p:blipFill>
        <p:spPr>
          <a:xfrm>
            <a:off x="924232" y="1783839"/>
            <a:ext cx="10429568" cy="4434348"/>
          </a:xfrm>
          <a:prstGeom prst="rect">
            <a:avLst/>
          </a:prstGeom>
        </p:spPr>
      </p:pic>
    </p:spTree>
    <p:extLst>
      <p:ext uri="{BB962C8B-B14F-4D97-AF65-F5344CB8AC3E}">
        <p14:creationId xmlns:p14="http://schemas.microsoft.com/office/powerpoint/2010/main" val="7744448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A33D42D-48E4-870C-90AB-FE858134140D}"/>
              </a:ext>
            </a:extLst>
          </p:cNvPr>
          <p:cNvSpPr>
            <a:spLocks noGrp="1"/>
          </p:cNvSpPr>
          <p:nvPr>
            <p:ph type="dt" sz="half" idx="10"/>
          </p:nvPr>
        </p:nvSpPr>
        <p:spPr/>
        <p:txBody>
          <a:bodyPr/>
          <a:lstStyle/>
          <a:p>
            <a:pPr>
              <a:defRPr/>
            </a:pPr>
            <a:fld id="{9FCC6B52-9971-410F-B970-172C9ABC021C}" type="datetime8">
              <a:rPr lang="en-IN" smtClean="0"/>
              <a:t>06-05-2026 14:01</a:t>
            </a:fld>
            <a:endParaRPr lang="en-IN"/>
          </a:p>
        </p:txBody>
      </p:sp>
      <p:sp>
        <p:nvSpPr>
          <p:cNvPr id="5" name="Slide Number Placeholder 4">
            <a:extLst>
              <a:ext uri="{FF2B5EF4-FFF2-40B4-BE49-F238E27FC236}">
                <a16:creationId xmlns:a16="http://schemas.microsoft.com/office/drawing/2014/main" id="{E9627C1C-38BA-8E13-35A4-82EFD0177310}"/>
              </a:ext>
            </a:extLst>
          </p:cNvPr>
          <p:cNvSpPr>
            <a:spLocks noGrp="1"/>
          </p:cNvSpPr>
          <p:nvPr>
            <p:ph type="sldNum" sz="quarter" idx="12"/>
          </p:nvPr>
        </p:nvSpPr>
        <p:spPr/>
        <p:txBody>
          <a:bodyPr/>
          <a:lstStyle/>
          <a:p>
            <a:pPr>
              <a:defRPr/>
            </a:pPr>
            <a:fld id="{AAFC9A1D-E715-4FF0-BABF-4724B2795EE9}" type="slidenum">
              <a:rPr lang="en-IN" smtClean="0"/>
              <a:pPr>
                <a:defRPr/>
              </a:pPr>
              <a:t>16</a:t>
            </a:fld>
            <a:endParaRPr lang="en-IN"/>
          </a:p>
        </p:txBody>
      </p:sp>
      <p:pic>
        <p:nvPicPr>
          <p:cNvPr id="9" name="Content Placeholder 8">
            <a:extLst>
              <a:ext uri="{FF2B5EF4-FFF2-40B4-BE49-F238E27FC236}">
                <a16:creationId xmlns:a16="http://schemas.microsoft.com/office/drawing/2014/main" id="{2593AB2F-CC9F-A585-64C3-D4036E1C6AD3}"/>
              </a:ext>
            </a:extLst>
          </p:cNvPr>
          <p:cNvPicPr>
            <a:picLocks noGrp="1" noChangeAspect="1"/>
          </p:cNvPicPr>
          <p:nvPr>
            <p:ph idx="1"/>
          </p:nvPr>
        </p:nvPicPr>
        <p:blipFill>
          <a:blip r:embed="rId2"/>
          <a:stretch>
            <a:fillRect/>
          </a:stretch>
        </p:blipFill>
        <p:spPr bwMode="auto">
          <a:xfrm>
            <a:off x="838200" y="3813715"/>
            <a:ext cx="10515600" cy="597408"/>
          </a:xfrm>
          <a:prstGeom prst="rect">
            <a:avLst/>
          </a:prstGeom>
          <a:noFill/>
          <a:ln w="9525">
            <a:noFill/>
            <a:miter lim="800000"/>
            <a:headEnd/>
            <a:tailEnd/>
          </a:ln>
        </p:spPr>
      </p:pic>
      <p:pic>
        <p:nvPicPr>
          <p:cNvPr id="11" name="Picture 10">
            <a:extLst>
              <a:ext uri="{FF2B5EF4-FFF2-40B4-BE49-F238E27FC236}">
                <a16:creationId xmlns:a16="http://schemas.microsoft.com/office/drawing/2014/main" id="{5D5867E2-072D-01FF-06A2-5717BB5487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1134960"/>
            <a:ext cx="10515600" cy="4921711"/>
          </a:xfrm>
          <a:prstGeom prst="rect">
            <a:avLst/>
          </a:prstGeom>
        </p:spPr>
      </p:pic>
    </p:spTree>
    <p:extLst>
      <p:ext uri="{BB962C8B-B14F-4D97-AF65-F5344CB8AC3E}">
        <p14:creationId xmlns:p14="http://schemas.microsoft.com/office/powerpoint/2010/main" val="24625906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9B4E33A-1B94-C28E-F532-7B6C51A876A3}"/>
              </a:ext>
            </a:extLst>
          </p:cNvPr>
          <p:cNvSpPr>
            <a:spLocks noGrp="1"/>
          </p:cNvSpPr>
          <p:nvPr>
            <p:ph idx="1"/>
          </p:nvPr>
        </p:nvSpPr>
        <p:spPr>
          <a:xfrm>
            <a:off x="838200" y="1052052"/>
            <a:ext cx="10515600" cy="5124911"/>
          </a:xfrm>
        </p:spPr>
        <p:txBody>
          <a:bodyPr/>
          <a:lstStyle/>
          <a:p>
            <a:r>
              <a:rPr lang="en-US" sz="2000" dirty="0"/>
              <a:t>6T SRAM schematic was successfully designed in Cadence Virtuoso </a:t>
            </a:r>
          </a:p>
          <a:p>
            <a:r>
              <a:rPr lang="en-US" sz="2000" dirty="0"/>
              <a:t>Cross-coupled inverter structure with access transistors implemented correctly </a:t>
            </a:r>
          </a:p>
          <a:p>
            <a:r>
              <a:rPr lang="en-US" sz="2000" dirty="0"/>
              <a:t>Bit lines (BL, BLB) and word line (WL) connections verified </a:t>
            </a:r>
          </a:p>
          <a:p>
            <a:r>
              <a:rPr lang="en-US" sz="2000" dirty="0"/>
              <a:t>Layout of 6T SRAM cell was completed with proper CMOS design rules </a:t>
            </a:r>
          </a:p>
          <a:p>
            <a:r>
              <a:rPr lang="en-US" sz="2000" dirty="0"/>
              <a:t>PMOS and NMOS transistors placed and routed correctly </a:t>
            </a:r>
          </a:p>
          <a:p>
            <a:r>
              <a:rPr lang="en-US" sz="2000" dirty="0"/>
              <a:t>Compact and symmetrical layout achieved </a:t>
            </a:r>
          </a:p>
          <a:p>
            <a:r>
              <a:rPr lang="en-US" sz="2000" dirty="0"/>
              <a:t>Design Rule Check (DRC) passed with no errors </a:t>
            </a:r>
          </a:p>
          <a:p>
            <a:r>
              <a:rPr lang="en-US" sz="2000" dirty="0"/>
              <a:t>Layout Versus Schematic (LVS) verification successful </a:t>
            </a:r>
          </a:p>
          <a:p>
            <a:r>
              <a:rPr lang="en-US" sz="2000" dirty="0"/>
              <a:t>Write operation performed successfully through bit lines </a:t>
            </a:r>
          </a:p>
          <a:p>
            <a:r>
              <a:rPr lang="en-US" sz="2000" dirty="0"/>
              <a:t>Read operation verified without disturbing stored data </a:t>
            </a:r>
          </a:p>
          <a:p>
            <a:r>
              <a:rPr lang="en-US" sz="2000" dirty="0"/>
              <a:t>Hold operation confirmed when word line is disabled </a:t>
            </a:r>
          </a:p>
          <a:p>
            <a:r>
              <a:rPr lang="en-US" sz="2000" dirty="0"/>
              <a:t>SRAM cell stores one bit of data reliably </a:t>
            </a:r>
          </a:p>
          <a:p>
            <a:r>
              <a:rPr lang="en-US" sz="2000" dirty="0"/>
              <a:t>Overall design shows correct functionality </a:t>
            </a:r>
          </a:p>
          <a:p>
            <a:pPr marL="0" indent="0">
              <a:buNone/>
            </a:pPr>
            <a:endParaRPr lang="en-IN" sz="2000" dirty="0"/>
          </a:p>
        </p:txBody>
      </p:sp>
      <p:sp>
        <p:nvSpPr>
          <p:cNvPr id="4" name="Date Placeholder 3">
            <a:extLst>
              <a:ext uri="{FF2B5EF4-FFF2-40B4-BE49-F238E27FC236}">
                <a16:creationId xmlns:a16="http://schemas.microsoft.com/office/drawing/2014/main" id="{ACC04C50-2F9E-F4D5-F5A3-E897E2E27286}"/>
              </a:ext>
            </a:extLst>
          </p:cNvPr>
          <p:cNvSpPr>
            <a:spLocks noGrp="1"/>
          </p:cNvSpPr>
          <p:nvPr>
            <p:ph type="dt" sz="half" idx="10"/>
          </p:nvPr>
        </p:nvSpPr>
        <p:spPr/>
        <p:txBody>
          <a:bodyPr/>
          <a:lstStyle/>
          <a:p>
            <a:pPr>
              <a:defRPr/>
            </a:pPr>
            <a:fld id="{9FCC6B52-9971-410F-B970-172C9ABC021C}" type="datetime8">
              <a:rPr lang="en-IN" smtClean="0"/>
              <a:t>06-05-2026 14:01</a:t>
            </a:fld>
            <a:endParaRPr lang="en-IN"/>
          </a:p>
        </p:txBody>
      </p:sp>
      <p:sp>
        <p:nvSpPr>
          <p:cNvPr id="5" name="Slide Number Placeholder 4">
            <a:extLst>
              <a:ext uri="{FF2B5EF4-FFF2-40B4-BE49-F238E27FC236}">
                <a16:creationId xmlns:a16="http://schemas.microsoft.com/office/drawing/2014/main" id="{D2DD2472-42E8-896D-C620-54D0A9CAA802}"/>
              </a:ext>
            </a:extLst>
          </p:cNvPr>
          <p:cNvSpPr>
            <a:spLocks noGrp="1"/>
          </p:cNvSpPr>
          <p:nvPr>
            <p:ph type="sldNum" sz="quarter" idx="12"/>
          </p:nvPr>
        </p:nvSpPr>
        <p:spPr/>
        <p:txBody>
          <a:bodyPr/>
          <a:lstStyle/>
          <a:p>
            <a:pPr>
              <a:defRPr/>
            </a:pPr>
            <a:fld id="{AAFC9A1D-E715-4FF0-BABF-4724B2795EE9}" type="slidenum">
              <a:rPr lang="en-IN" smtClean="0"/>
              <a:pPr>
                <a:defRPr/>
              </a:pPr>
              <a:t>17</a:t>
            </a:fld>
            <a:endParaRPr lang="en-IN"/>
          </a:p>
        </p:txBody>
      </p:sp>
    </p:spTree>
    <p:extLst>
      <p:ext uri="{BB962C8B-B14F-4D97-AF65-F5344CB8AC3E}">
        <p14:creationId xmlns:p14="http://schemas.microsoft.com/office/powerpoint/2010/main" val="10346539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7445B-AF1A-4AF6-9150-A6B02609ECD2}"/>
              </a:ext>
            </a:extLst>
          </p:cNvPr>
          <p:cNvSpPr>
            <a:spLocks noGrp="1"/>
          </p:cNvSpPr>
          <p:nvPr>
            <p:ph type="title"/>
          </p:nvPr>
        </p:nvSpPr>
        <p:spPr/>
        <p:txBody>
          <a:bodyPr/>
          <a:lstStyle/>
          <a:p>
            <a:r>
              <a:rPr lang="en-US" dirty="0"/>
              <a:t>References</a:t>
            </a:r>
          </a:p>
        </p:txBody>
      </p:sp>
      <p:sp>
        <p:nvSpPr>
          <p:cNvPr id="4" name="Date Placeholder 3">
            <a:extLst>
              <a:ext uri="{FF2B5EF4-FFF2-40B4-BE49-F238E27FC236}">
                <a16:creationId xmlns:a16="http://schemas.microsoft.com/office/drawing/2014/main" id="{422904DB-4BF5-44F1-BE54-74D3DF089DDF}"/>
              </a:ext>
            </a:extLst>
          </p:cNvPr>
          <p:cNvSpPr>
            <a:spLocks noGrp="1"/>
          </p:cNvSpPr>
          <p:nvPr>
            <p:ph type="dt" sz="half" idx="10"/>
          </p:nvPr>
        </p:nvSpPr>
        <p:spPr/>
        <p:txBody>
          <a:bodyPr/>
          <a:lstStyle/>
          <a:p>
            <a:pPr>
              <a:defRPr/>
            </a:pPr>
            <a:fld id="{B792AC0D-D325-406D-B4B7-244CEA7E62B6}" type="datetime8">
              <a:rPr lang="en-IN" smtClean="0"/>
              <a:t>06-05-2026 14:01</a:t>
            </a:fld>
            <a:endParaRPr lang="en-IN" dirty="0"/>
          </a:p>
        </p:txBody>
      </p:sp>
      <p:sp>
        <p:nvSpPr>
          <p:cNvPr id="5" name="Slide Number Placeholder 4">
            <a:extLst>
              <a:ext uri="{FF2B5EF4-FFF2-40B4-BE49-F238E27FC236}">
                <a16:creationId xmlns:a16="http://schemas.microsoft.com/office/drawing/2014/main" id="{30BE980B-7F21-4350-A8F0-842DA72963D7}"/>
              </a:ext>
            </a:extLst>
          </p:cNvPr>
          <p:cNvSpPr>
            <a:spLocks noGrp="1"/>
          </p:cNvSpPr>
          <p:nvPr>
            <p:ph type="sldNum" sz="quarter" idx="12"/>
          </p:nvPr>
        </p:nvSpPr>
        <p:spPr/>
        <p:txBody>
          <a:bodyPr/>
          <a:lstStyle/>
          <a:p>
            <a:pPr>
              <a:defRPr/>
            </a:pPr>
            <a:fld id="{AAFC9A1D-E715-4FF0-BABF-4724B2795EE9}" type="slidenum">
              <a:rPr lang="en-IN" smtClean="0"/>
              <a:pPr>
                <a:defRPr/>
              </a:pPr>
              <a:t>18</a:t>
            </a:fld>
            <a:endParaRPr lang="en-IN"/>
          </a:p>
        </p:txBody>
      </p:sp>
      <p:sp>
        <p:nvSpPr>
          <p:cNvPr id="8" name="Content Placeholder 7">
            <a:extLst>
              <a:ext uri="{FF2B5EF4-FFF2-40B4-BE49-F238E27FC236}">
                <a16:creationId xmlns:a16="http://schemas.microsoft.com/office/drawing/2014/main" id="{830F9E4F-19BE-B5D1-4038-C6CD0DB7FEFF}"/>
              </a:ext>
            </a:extLst>
          </p:cNvPr>
          <p:cNvSpPr>
            <a:spLocks noGrp="1"/>
          </p:cNvSpPr>
          <p:nvPr>
            <p:ph idx="1"/>
          </p:nvPr>
        </p:nvSpPr>
        <p:spPr>
          <a:xfrm>
            <a:off x="838200" y="1900435"/>
            <a:ext cx="10515600" cy="4129044"/>
          </a:xfrm>
        </p:spPr>
        <p:txBody>
          <a:bodyPr/>
          <a:lstStyle/>
          <a:p>
            <a:pPr marL="342900" indent="-342900">
              <a:buFont typeface="+mj-lt"/>
              <a:buAutoNum type="arabicPeriod"/>
            </a:pPr>
            <a:r>
              <a:rPr lang="en-US" sz="1800" dirty="0"/>
              <a:t>K. Agarwal, S. K. Gupta, “Design and Analysis of CMOS based 6T SRAM Cell at Different Technology Nodes”, Materials Today: Proceedings, Elsevier, 2020, pp. 1-6.</a:t>
            </a:r>
            <a:endParaRPr lang="en-IN" sz="1800" dirty="0"/>
          </a:p>
          <a:p>
            <a:pPr marL="342900" indent="-342900">
              <a:buFont typeface="+mj-lt"/>
              <a:buAutoNum type="arabicPeriod"/>
            </a:pPr>
            <a:r>
              <a:rPr lang="en-IN" sz="1800" dirty="0"/>
              <a:t>Anirban Kar, Mahdi Benkhelifa, Yogesh Singh, Hussam Amrouch, “Performance Evaluation of 6T-Sram in Sub-3 nm Complementary </a:t>
            </a:r>
            <a:r>
              <a:rPr lang="en-IN" sz="1800" dirty="0" err="1"/>
              <a:t>Fet</a:t>
            </a:r>
            <a:r>
              <a:rPr lang="en-IN" sz="1800" dirty="0"/>
              <a:t>”, 2025 9th IEEE Electron Device Technology &amp; Manufacturing </a:t>
            </a:r>
            <a:r>
              <a:rPr lang="en-IN" sz="1800" dirty="0" err="1"/>
              <a:t>Confernce</a:t>
            </a:r>
            <a:r>
              <a:rPr lang="en-IN" sz="1800" dirty="0"/>
              <a:t> ,2025.</a:t>
            </a:r>
          </a:p>
          <a:p>
            <a:pPr marL="342900" indent="-342900">
              <a:buFont typeface="+mj-lt"/>
              <a:buAutoNum type="arabicPeriod"/>
            </a:pPr>
            <a:r>
              <a:rPr lang="en-US" sz="1800" dirty="0"/>
              <a:t>Prince Kumar </a:t>
            </a:r>
            <a:r>
              <a:rPr lang="en-US" sz="1800" dirty="0" err="1"/>
              <a:t>Pandey,Dharmendra</a:t>
            </a:r>
            <a:r>
              <a:rPr lang="en-US" sz="1800" dirty="0"/>
              <a:t> Singh Yadav, “Parametric Inspection of 6T SRAM Cell”,2021 5th International Conference on Trends in Electronics and information, 2021. </a:t>
            </a:r>
          </a:p>
          <a:p>
            <a:pPr marL="342900" indent="-342900">
              <a:buFont typeface="+mj-lt"/>
              <a:buAutoNum type="arabicPeriod"/>
            </a:pPr>
            <a:r>
              <a:rPr lang="en-IN" sz="1800" dirty="0" err="1"/>
              <a:t>T.Kalpana,Challa</a:t>
            </a:r>
            <a:r>
              <a:rPr lang="en-IN" sz="1800" dirty="0"/>
              <a:t> Lakshmi </a:t>
            </a:r>
            <a:r>
              <a:rPr lang="en-IN" sz="1800" dirty="0" err="1"/>
              <a:t>Reddy,Bandaru</a:t>
            </a:r>
            <a:r>
              <a:rPr lang="en-IN" sz="1800" dirty="0"/>
              <a:t> Saranya, “A Low Voltage 6T SRAM Cell Design and Analysis Using Cadence 90nm And 45nm CMOS Technology”,2024 7th International Conference on Device and System,2024. </a:t>
            </a:r>
          </a:p>
          <a:p>
            <a:pPr marL="342900" indent="-342900">
              <a:buFont typeface="+mj-lt"/>
              <a:buAutoNum type="arabicPeriod"/>
            </a:pPr>
            <a:r>
              <a:rPr lang="en-IN" sz="1800" dirty="0"/>
              <a:t>Tushar </a:t>
            </a:r>
            <a:r>
              <a:rPr lang="en-IN" sz="1800" dirty="0" err="1"/>
              <a:t>Singh,V</a:t>
            </a:r>
            <a:r>
              <a:rPr lang="en-IN" sz="1800" dirty="0"/>
              <a:t>. </a:t>
            </a:r>
            <a:r>
              <a:rPr lang="en-IN" sz="1800" dirty="0" err="1"/>
              <a:t>Prakash;S.S</a:t>
            </a:r>
            <a:r>
              <a:rPr lang="en-IN" sz="1800" dirty="0"/>
              <a:t>. </a:t>
            </a:r>
            <a:r>
              <a:rPr lang="en-IN" sz="1800" dirty="0" err="1"/>
              <a:t>Anwer,Gufran</a:t>
            </a:r>
            <a:r>
              <a:rPr lang="en-IN" sz="1800" dirty="0"/>
              <a:t> Ahmad, “</a:t>
            </a:r>
            <a:r>
              <a:rPr lang="en-IN" sz="1800" dirty="0" err="1"/>
              <a:t>Analyzing</a:t>
            </a:r>
            <a:r>
              <a:rPr lang="en-IN" sz="1800" dirty="0"/>
              <a:t> the Performance of 6T SRAM Cell and 64×64 Memory Array at Lower Technology Nodes for Low Power Design”, 2023 1st International Conference on Circuits, Power and Intelligent Systems (CCPIS), 2023.</a:t>
            </a:r>
          </a:p>
          <a:p>
            <a:endParaRPr lang="en-IN" sz="1800" dirty="0"/>
          </a:p>
          <a:p>
            <a:endParaRPr lang="en-IN" sz="1800" dirty="0"/>
          </a:p>
          <a:p>
            <a:endParaRPr lang="en-IN" sz="1800" dirty="0"/>
          </a:p>
          <a:p>
            <a:endParaRPr lang="en-IN" sz="1800" dirty="0"/>
          </a:p>
        </p:txBody>
      </p:sp>
    </p:spTree>
    <p:extLst>
      <p:ext uri="{BB962C8B-B14F-4D97-AF65-F5344CB8AC3E}">
        <p14:creationId xmlns:p14="http://schemas.microsoft.com/office/powerpoint/2010/main" val="36271824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majorproject</Template>
  <TotalTime>773</TotalTime>
  <Words>1434</Words>
  <Application>Microsoft Office PowerPoint</Application>
  <PresentationFormat>Widescreen</PresentationFormat>
  <Paragraphs>182</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Calibri (Body)</vt:lpstr>
      <vt:lpstr>Calibri Light</vt:lpstr>
      <vt:lpstr>Office Theme</vt:lpstr>
      <vt:lpstr>Visvesvaraya Technological University Belagavi</vt:lpstr>
      <vt:lpstr>Presentation Flow</vt:lpstr>
      <vt:lpstr>Introduction</vt:lpstr>
      <vt:lpstr>Aim of the Project </vt:lpstr>
      <vt:lpstr>Literature Survey</vt:lpstr>
      <vt:lpstr>PowerPoint Presentation</vt:lpstr>
      <vt:lpstr>PowerPoint Presentation</vt:lpstr>
      <vt:lpstr>PowerPoint Presentation</vt:lpstr>
      <vt:lpstr>PowerPoint Presentation</vt:lpstr>
      <vt:lpstr>Objectives</vt:lpstr>
      <vt:lpstr>Methodology</vt:lpstr>
      <vt:lpstr>PowerPoint Presentation</vt:lpstr>
      <vt:lpstr>PowerPoint Presentation</vt:lpstr>
      <vt:lpstr>Flowchart</vt:lpstr>
      <vt:lpstr>Results</vt:lpstr>
      <vt:lpstr>PowerPoint Presentation</vt:lpstr>
      <vt:lpstr>PowerPoint Presentation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Abhishek B P</dc:creator>
  <cp:lastModifiedBy>Abhishek B P</cp:lastModifiedBy>
  <cp:revision>6</cp:revision>
  <dcterms:created xsi:type="dcterms:W3CDTF">2026-03-08T03:24:38Z</dcterms:created>
  <dcterms:modified xsi:type="dcterms:W3CDTF">2026-05-06T09:18:16Z</dcterms:modified>
</cp:coreProperties>
</file>